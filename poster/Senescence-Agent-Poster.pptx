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1234" y="-16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7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15">
            <a:extLst>
              <a:ext uri="{FF2B5EF4-FFF2-40B4-BE49-F238E27FC236}">
                <a16:creationId xmlns:a16="http://schemas.microsoft.com/office/drawing/2014/main" id="{DBB9728C-73C8-214B-8346-3F0515EC7682}"/>
              </a:ext>
            </a:extLst>
          </p:cNvPr>
          <p:cNvSpPr/>
          <p:nvPr/>
        </p:nvSpPr>
        <p:spPr>
          <a:xfrm>
            <a:off x="16779242" y="7982963"/>
            <a:ext cx="15224760" cy="88696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254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32918400" cy="4846320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3108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Senescence Agent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3108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DD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AI Agent for Trustworthy Single-Cell Aging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3108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FC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Rodela Ghosh   ·   Aviral Gupta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3108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Science &amp; Engineering, University of South Florida   ·   Mentor: Dr. Fei He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5212080"/>
            <a:ext cx="31089600" cy="2468880"/>
          </a:xfrm>
          <a:prstGeom prst="roundRect">
            <a:avLst>
              <a:gd name="adj" fmla="val 5106"/>
            </a:avLst>
          </a:prstGeom>
          <a:solidFill>
            <a:srgbClr val="EAF3E0"/>
          </a:solidFill>
          <a:ln w="25400">
            <a:solidFill>
              <a:srgbClr val="9CC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5440680"/>
            <a:ext cx="30175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kern="0" spc="50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  </a:t>
            </a:r>
            <a:r>
              <a:rPr lang="en-US" sz="28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Senescence Agent lets a researcher analyze single-cell aging data in plain English — running the full Scanpy pipeline — and </a:t>
            </a:r>
            <a:r>
              <a:rPr lang="en-US" sz="2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refuses to report statistically invalid conclusions.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497330" y="6661405"/>
            <a:ext cx="73380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97330" y="6728459"/>
            <a:ext cx="73380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interface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961120" y="6629400"/>
            <a:ext cx="73380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029700" y="6690360"/>
            <a:ext cx="73380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Scanpy pipeline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6596360" y="6629400"/>
            <a:ext cx="73380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596360" y="6629400"/>
            <a:ext cx="73380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Senescence &amp; aging analysis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4277320" y="6629400"/>
            <a:ext cx="73380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4277320" y="6661404"/>
            <a:ext cx="73380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validity firewall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4400" y="7970520"/>
            <a:ext cx="15224760" cy="88696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254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8092440"/>
            <a:ext cx="1440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kern="0" spc="50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1325880" y="8915400"/>
            <a:ext cx="14401800" cy="0"/>
          </a:xfrm>
          <a:prstGeom prst="line">
            <a:avLst/>
          </a:prstGeom>
          <a:noFill/>
          <a:ln w="19050">
            <a:solidFill>
              <a:srgbClr val="CA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71600" y="9098280"/>
            <a:ext cx="14310360" cy="731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36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Senescent cells stop dividing but linger, driving aging and age-related disease.</a:t>
            </a:r>
            <a:endParaRPr lang="en-US" sz="3600" dirty="0"/>
          </a:p>
          <a:p>
            <a:pPr marL="279400" indent="-279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36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can find them — millions of cells per experiment — but the analysis is a bottleneck.</a:t>
            </a:r>
            <a:endParaRPr lang="en-US" sz="3600" dirty="0"/>
          </a:p>
          <a:p>
            <a:pPr marL="279400" indent="-279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36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Worse, automated LLM agents commit pseudoreplication: they treat each cell as an independent sample, reporting hundreds of “discoveries” that aren’t real.</a:t>
            </a:r>
            <a:endParaRPr lang="en-US" sz="3600" dirty="0"/>
          </a:p>
          <a:p>
            <a:pPr marL="279400" indent="-2794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36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confident false result is worse than none — it misdirects real aging research.</a:t>
            </a:r>
            <a:endParaRPr lang="en-US" sz="3600" dirty="0"/>
          </a:p>
          <a:p>
            <a:pPr marL="0" indent="0">
              <a:lnSpc>
                <a:spcPct val="103000"/>
              </a:lnSpc>
              <a:spcBef>
                <a:spcPts val="800"/>
              </a:spcBef>
              <a:spcAft>
                <a:spcPts val="700"/>
              </a:spcAft>
              <a:buNone/>
            </a:pPr>
            <a:r>
              <a:rPr lang="en-US" sz="3600" b="1" i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make single-cell senescence analysis both accessible and statistically valid.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7190720" y="8092440"/>
            <a:ext cx="1440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— HOW WE BUILT IT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17190720" y="8915400"/>
            <a:ext cx="14401800" cy="0"/>
          </a:xfrm>
          <a:prstGeom prst="line">
            <a:avLst/>
          </a:prstGeom>
          <a:noFill/>
          <a:ln w="19050">
            <a:solidFill>
              <a:srgbClr val="CA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7236440" y="9143999"/>
            <a:ext cx="2627986" cy="1216153"/>
          </a:xfrm>
          <a:prstGeom prst="roundRect">
            <a:avLst>
              <a:gd name="adj" fmla="val 6667"/>
            </a:avLst>
          </a:prstGeom>
          <a:solidFill>
            <a:srgbClr val="4660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236440" y="9143999"/>
            <a:ext cx="2627986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9882714" y="9576409"/>
            <a:ext cx="256032" cy="351333"/>
          </a:xfrm>
          <a:prstGeom prst="rightArrow">
            <a:avLst/>
          </a:prstGeom>
          <a:solidFill>
            <a:srgbClr val="7E9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157034" y="9143999"/>
            <a:ext cx="2627986" cy="1216153"/>
          </a:xfrm>
          <a:prstGeom prst="roundRect">
            <a:avLst>
              <a:gd name="adj" fmla="val 6667"/>
            </a:avLst>
          </a:prstGeom>
          <a:solidFill>
            <a:srgbClr val="00937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157034" y="9143999"/>
            <a:ext cx="2627986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22803307" y="9576409"/>
            <a:ext cx="256032" cy="351333"/>
          </a:xfrm>
          <a:prstGeom prst="rightArrow">
            <a:avLst/>
          </a:prstGeom>
          <a:solidFill>
            <a:srgbClr val="7E9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3077627" y="9143999"/>
            <a:ext cx="2627986" cy="1216153"/>
          </a:xfrm>
          <a:prstGeom prst="roundRect">
            <a:avLst>
              <a:gd name="adj" fmla="val 6667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077627" y="9143999"/>
            <a:ext cx="2627986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25723901" y="9576409"/>
            <a:ext cx="256032" cy="351333"/>
          </a:xfrm>
          <a:prstGeom prst="rightArrow">
            <a:avLst/>
          </a:prstGeom>
          <a:solidFill>
            <a:srgbClr val="7E9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5998221" y="9143999"/>
            <a:ext cx="2627986" cy="1216153"/>
          </a:xfrm>
          <a:prstGeom prst="roundRect">
            <a:avLst>
              <a:gd name="adj" fmla="val 6667"/>
            </a:avLst>
          </a:prstGeom>
          <a:solidFill>
            <a:srgbClr val="0054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5998221" y="9143999"/>
            <a:ext cx="2627986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8644494" y="9576409"/>
            <a:ext cx="256032" cy="351333"/>
          </a:xfrm>
          <a:prstGeom prst="rightArrow">
            <a:avLst/>
          </a:prstGeom>
          <a:solidFill>
            <a:srgbClr val="7E9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918814" y="9143999"/>
            <a:ext cx="2627986" cy="1216153"/>
          </a:xfrm>
          <a:prstGeom prst="roundRect">
            <a:avLst>
              <a:gd name="adj" fmla="val 6667"/>
            </a:avLst>
          </a:prstGeom>
          <a:solidFill>
            <a:srgbClr val="4660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8918814" y="9143999"/>
            <a:ext cx="2627986" cy="1216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Scanpy</a:t>
            </a:r>
            <a:endParaRPr lang="en-US" sz="16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236440" y="10548877"/>
            <a:ext cx="1431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  <a:defRPr sz="1100"/>
            </a:pPr>
            <a:r>
              <a:t>The LLM only proposes — all statistics, claim permissions, and user-facing text are deterministic. Three-tier routing; Scanpy tool layer.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7350740" y="11394697"/>
            <a:ext cx="1431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60" dirty="0">
                <a:solidFill>
                  <a:srgbClr val="0093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VALIDITY FIREWALL — TWO DETERMINISTIC GATES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17636033" y="12054841"/>
            <a:ext cx="822960" cy="822960"/>
          </a:xfrm>
          <a:prstGeom prst="ellipse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7636033" y="12033739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8550433" y="12177698"/>
            <a:ext cx="1266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Admissibility  ·  before the test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8562320" y="12870180"/>
            <a:ext cx="12664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this data support the inference? Blocks: no replicate column · &lt; 2 replicates/group · confounded contrast · circular setup.  → an invalid claim is never computed.</a:t>
            </a:r>
            <a:endParaRPr lang="en-US" sz="2400" dirty="0"/>
          </a:p>
        </p:txBody>
      </p:sp>
      <p:sp>
        <p:nvSpPr>
          <p:cNvPr id="46" name="Shape 44"/>
          <p:cNvSpPr/>
          <p:nvPr/>
        </p:nvSpPr>
        <p:spPr>
          <a:xfrm>
            <a:off x="17556480" y="14218920"/>
            <a:ext cx="822960" cy="822960"/>
          </a:xfrm>
          <a:prstGeom prst="ellipse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7556480" y="14218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8562320" y="14200632"/>
            <a:ext cx="1266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 ·  after the test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18562320" y="14767560"/>
            <a:ext cx="12664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  <a:defRPr sz="1100"/>
            </a:pPr>
            <a:r>
              <a:t>Is the conclusion justified? A 5-state machine; validity flags override significance. A small p-value alone never earns a conclusion.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52500" y="17251680"/>
            <a:ext cx="31089600" cy="16626838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254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325880" y="17419320"/>
            <a:ext cx="3017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— MEASURABLE METRICS (against ground truth</a:t>
            </a:r>
            <a:r>
              <a:rPr lang="en-US" sz="26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600" dirty="0"/>
          </a:p>
        </p:txBody>
      </p:sp>
      <p:sp>
        <p:nvSpPr>
          <p:cNvPr id="52" name="Shape 50"/>
          <p:cNvSpPr/>
          <p:nvPr/>
        </p:nvSpPr>
        <p:spPr>
          <a:xfrm>
            <a:off x="1325880" y="18242280"/>
            <a:ext cx="30266640" cy="0"/>
          </a:xfrm>
          <a:prstGeom prst="line">
            <a:avLst/>
          </a:prstGeom>
          <a:noFill/>
          <a:ln w="19050">
            <a:solidFill>
              <a:srgbClr val="CA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463040" y="18516600"/>
            <a:ext cx="12618720" cy="6172198"/>
          </a:xfrm>
          <a:prstGeom prst="roundRect">
            <a:avLst>
              <a:gd name="adj" fmla="val 1389"/>
            </a:avLst>
          </a:prstGeom>
          <a:solidFill>
            <a:srgbClr val="F1F0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828800" y="18745200"/>
            <a:ext cx="1426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DATA  ·  Tabula Muris Senis  ·  truth = 0 genes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1828800" y="18790920"/>
            <a:ext cx="1426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1000"/>
            </a:pPr>
            <a:r>
              <a:t>Mean false DE genes (FDR &lt; 0.05):</a:t>
            </a:r>
            <a:endParaRPr lang="en-US" sz="6600" dirty="0"/>
          </a:p>
        </p:txBody>
      </p:sp>
      <p:sp>
        <p:nvSpPr>
          <p:cNvPr id="56" name="Text 54"/>
          <p:cNvSpPr/>
          <p:nvPr/>
        </p:nvSpPr>
        <p:spPr>
          <a:xfrm>
            <a:off x="952500" y="21991320"/>
            <a:ext cx="1362954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1000"/>
            </a:pPr>
            <a:r>
              <a:t>Ungoverned per-cell → governed pseudobulk. 5 tissues × 13 cell types, 200 perms.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1920240" y="22448520"/>
            <a:ext cx="1111582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500"/>
              </a:spcAft>
              <a:buSzPct val="100000"/>
              <a:buChar char="•"/>
              <a:defRPr sz="1000"/>
            </a:pPr>
            <a:r>
              <a:t>Ungoverned = 100% false-discovery rate in all 13 configs. FDR correction alone does NOT fix it — the fix is the statistical unit.</a:t>
            </a:r>
            <a:endParaRPr lang="en-US" sz="3200" dirty="0"/>
          </a:p>
        </p:txBody>
      </p:sp>
      <p:sp>
        <p:nvSpPr>
          <p:cNvPr id="58" name="Shape 56"/>
          <p:cNvSpPr/>
          <p:nvPr/>
        </p:nvSpPr>
        <p:spPr>
          <a:xfrm>
            <a:off x="1497330" y="24975632"/>
            <a:ext cx="12584430" cy="5626290"/>
          </a:xfrm>
          <a:prstGeom prst="roundRect">
            <a:avLst>
              <a:gd name="adj" fmla="val 1389"/>
            </a:avLst>
          </a:prstGeom>
          <a:solidFill>
            <a:srgbClr val="EAF3E0"/>
          </a:solidFill>
          <a:ln w="19050">
            <a:solidFill>
              <a:srgbClr val="9CCB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933347" y="25206958"/>
            <a:ext cx="1426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 ·  GSE226225 (human WI-38)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1703070" y="25938476"/>
            <a:ext cx="1426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r>
              <a:rPr lang="en-US" sz="19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4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DE genes recovered</a:t>
            </a:r>
            <a:endParaRPr lang="en-US" sz="5800" dirty="0"/>
          </a:p>
        </p:txBody>
      </p:sp>
      <p:sp>
        <p:nvSpPr>
          <p:cNvPr id="61" name="Text 59"/>
          <p:cNvSpPr/>
          <p:nvPr/>
        </p:nvSpPr>
        <p:spPr>
          <a:xfrm>
            <a:off x="914400" y="27233878"/>
            <a:ext cx="1426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7E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etoposide-induced senescence (10 d, 3 reps) vs proliferating controls (2)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057402" y="27645358"/>
            <a:ext cx="1170431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1100"/>
            </a:pPr>
            <a:r>
              <a:t>Canonical markers, correct direction:  CDKN1A, CDKN2A (p16), GDF15, IL6 up;  MKI67, LMNB1, TOP2A, BIRC5 down.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2217420" y="28651196"/>
            <a:ext cx="1408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pseudobulk DESeq2 on sample-level counts.</a:t>
            </a:r>
            <a:endParaRPr lang="en-US" sz="2000" dirty="0"/>
          </a:p>
          <a:p>
            <a:pPr marL="279400" indent="-2794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4660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cautious — still sensitive to real biology.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1325880" y="31104841"/>
            <a:ext cx="30540960" cy="2584933"/>
          </a:xfrm>
          <a:prstGeom prst="roundRect">
            <a:avLst>
              <a:gd name="adj" fmla="val 500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057402" y="31592518"/>
            <a:ext cx="29443680" cy="1778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  <a:defRPr sz="1100"/>
            </a:pPr>
            <a:r>
              <a:t>Wild agent: CellAgent (published) autonomously planned per-cell rank_genes_groups on the same null — ignoring sample_id.</a:t>
            </a:r>
            <a:br/>
            <a:r>
              <a:t>Faithful but invalid: execution passes; statistical unit does not.</a:t>
            </a:r>
            <a:endParaRPr lang="en-US" sz="3200" dirty="0"/>
          </a:p>
        </p:txBody>
      </p:sp>
      <p:sp>
        <p:nvSpPr>
          <p:cNvPr id="66" name="Shape 64"/>
          <p:cNvSpPr/>
          <p:nvPr/>
        </p:nvSpPr>
        <p:spPr>
          <a:xfrm>
            <a:off x="772668" y="34549078"/>
            <a:ext cx="9939528" cy="5897882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254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497330" y="34792920"/>
            <a:ext cx="9116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68" name="Shape 66"/>
          <p:cNvSpPr/>
          <p:nvPr/>
        </p:nvSpPr>
        <p:spPr>
          <a:xfrm>
            <a:off x="1280160" y="35570160"/>
            <a:ext cx="9116568" cy="0"/>
          </a:xfrm>
          <a:prstGeom prst="line">
            <a:avLst/>
          </a:prstGeom>
          <a:noFill/>
          <a:ln w="19050">
            <a:solidFill>
              <a:srgbClr val="CAD2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325880" y="35991018"/>
            <a:ext cx="9025128" cy="359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3000"/>
              </a:lnSpc>
              <a:spcAft>
                <a:spcPts val="700"/>
              </a:spcAft>
              <a:buSzPct val="100000"/>
              <a:buChar char="•"/>
              <a:defRPr sz="1100"/>
            </a:pPr>
            <a:r>
              <a:t>• Low replicate counts in aging atlases — where validity matters most.</a:t>
            </a:r>
            <a:br/>
            <a:r>
              <a:t>• Real-data test: one cell line; only 2 proliferating controls.</a:t>
            </a:r>
            <a:br/>
            <a:r>
              <a:t>• Firewall targets pseudoreplication — not every validity error yet.</a:t>
            </a:r>
            <a:br/>
            <a:r>
              <a:t>• Senescence scored with SenMayo only; volcano is a validation viz, not chat UI.</a:t>
            </a:r>
            <a:endParaRPr lang="en-US" sz="2800" dirty="0"/>
          </a:p>
        </p:txBody>
      </p:sp>
      <p:sp>
        <p:nvSpPr>
          <p:cNvPr id="70" name="Shape 68"/>
          <p:cNvSpPr/>
          <p:nvPr/>
        </p:nvSpPr>
        <p:spPr>
          <a:xfrm>
            <a:off x="11436858" y="34549078"/>
            <a:ext cx="9939528" cy="5897882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254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11919204" y="34747201"/>
            <a:ext cx="9116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50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72" name="Shape 70"/>
          <p:cNvSpPr/>
          <p:nvPr/>
        </p:nvSpPr>
        <p:spPr>
          <a:xfrm>
            <a:off x="11740896" y="35570160"/>
            <a:ext cx="9116568" cy="0"/>
          </a:xfrm>
          <a:prstGeom prst="line">
            <a:avLst/>
          </a:prstGeom>
          <a:noFill/>
          <a:ln w="19050">
            <a:solidFill>
              <a:srgbClr val="CAD2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11786616" y="35890200"/>
            <a:ext cx="9025128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3000"/>
              </a:lnSpc>
              <a:spcAft>
                <a:spcPts val="700"/>
              </a:spcAft>
              <a:buSzPct val="100000"/>
              <a:buChar char="•"/>
              <a:defRPr sz="1100"/>
            </a:pPr>
            <a:r>
              <a:t>• Auto-detect case/control groupings beyond aging atlases.</a:t>
            </a:r>
            <a:br/>
            <a:r>
              <a:t>• Demonstrate confounding as the next validity error.</a:t>
            </a:r>
            <a:br/>
            <a:r>
              <a:t>• More human cohorts + end-to-end external-agent benchmarks.</a:t>
            </a:r>
            <a:br/>
            <a:r>
              <a:t>• Harden for deployment in aging labs.</a:t>
            </a:r>
            <a:endParaRPr lang="en-US" sz="2800" dirty="0"/>
          </a:p>
        </p:txBody>
      </p:sp>
      <p:sp>
        <p:nvSpPr>
          <p:cNvPr id="74" name="Shape 72"/>
          <p:cNvSpPr/>
          <p:nvPr/>
        </p:nvSpPr>
        <p:spPr>
          <a:xfrm>
            <a:off x="22018564" y="34564319"/>
            <a:ext cx="9939528" cy="5897881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2540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2430232" y="34792920"/>
            <a:ext cx="9116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50" dirty="0">
                <a:solidFill>
                  <a:srgbClr val="0067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 &amp; REFERENCES</a:t>
            </a:r>
            <a:endParaRPr lang="en-US" sz="2800" dirty="0"/>
          </a:p>
        </p:txBody>
      </p:sp>
      <p:sp>
        <p:nvSpPr>
          <p:cNvPr id="76" name="Shape 74"/>
          <p:cNvSpPr/>
          <p:nvPr/>
        </p:nvSpPr>
        <p:spPr>
          <a:xfrm>
            <a:off x="22430232" y="35570160"/>
            <a:ext cx="9116568" cy="0"/>
          </a:xfrm>
          <a:prstGeom prst="line">
            <a:avLst/>
          </a:prstGeom>
          <a:noFill/>
          <a:ln w="19050">
            <a:solidFill>
              <a:srgbClr val="CA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22521672" y="36393120"/>
            <a:ext cx="902512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spcAft>
                <a:spcPts val="800"/>
              </a:spcAft>
              <a:buNone/>
              <a:defRPr sz="1000"/>
            </a:pPr>
            <a:r>
              <a:t>Mentor: Dr. Fei He · TASH Hackathon, USF.</a:t>
            </a:r>
            <a:br/>
            <a:r>
              <a:t>Squair et al. 2021; Zimmerman et al. 2021; Saul et al. 2022 (SenMayo); Xiao et al. 2024 (CellAgent); Chen 2025 (EviBound); Huang et al. 2025 (POPPER).</a:t>
            </a:r>
            <a:br/>
            <a:r>
              <a:t>Contact: rg21@usf.edu · ML4H 2026 paper in preparation</a:t>
            </a:r>
            <a:endParaRPr lang="en-US" sz="2800" dirty="0"/>
          </a:p>
        </p:txBody>
      </p:sp>
      <p:sp>
        <p:nvSpPr>
          <p:cNvPr id="78" name="Shape 76"/>
          <p:cNvSpPr/>
          <p:nvPr/>
        </p:nvSpPr>
        <p:spPr>
          <a:xfrm>
            <a:off x="0" y="40873680"/>
            <a:ext cx="32918400" cy="3017520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9" name="Image 0" descr="C:\Users\Tech moon\AppData\Local\Temp\claude\C--Users-Tech-moon-Documents-GitHub-senescence-agent\08715e86-06b7-48bd-b113-7d377524fc99\scratchpad\deck\assets\usf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41513760"/>
            <a:ext cx="8229600" cy="13716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466C9B6-785F-4512-9D1B-E594ACBF3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9180" y="18455643"/>
            <a:ext cx="13933169" cy="11444854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60D72EE8-E3E7-C2FA-AAD0-F52B5B7E4BFC}"/>
              </a:ext>
            </a:extLst>
          </p:cNvPr>
          <p:cNvSpPr txBox="1"/>
          <p:nvPr/>
        </p:nvSpPr>
        <p:spPr>
          <a:xfrm>
            <a:off x="17304106" y="29928118"/>
            <a:ext cx="125844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Validation visualization of governed pseudobulk DESeq2 (GSE226225). The chat UI reports results as tables; this plot illustrates the recovered biology.</a:t>
            </a:r>
            <a:endParaRPr lang="en-US" sz="1600" dirty="0"/>
          </a:p>
        </p:txBody>
      </p:sp>
      <p:sp>
        <p:nvSpPr>
          <p:cNvPr id="99" name="TextBox 98"/>
          <p:cNvSpPr txBox="1"/>
          <p:nvPr/>
        </p:nvSpPr>
        <p:spPr>
          <a:xfrm>
            <a:off x="6236208" y="3749039"/>
            <a:ext cx="4572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/>
            </a:pPr>
            <a:r>
              <a:t>The agent proposes; the deterministic core decides.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5230368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/>
            </a:pPr>
            <a:r>
              <a:t>5-state verdicts: descriptive-only · low-power · not-significant · significant-inferential · blocked</a:t>
            </a:r>
          </a:p>
        </p:txBody>
      </p:sp>
      <p:pic>
        <p:nvPicPr>
          <p:cNvPr id="101" name="Poster Null Bars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9202400"/>
            <a:ext cx="6035040" cy="3940655"/>
          </a:xfrm>
          <a:prstGeom prst="rect">
            <a:avLst/>
          </a:prstGeom>
        </p:spPr>
      </p:pic>
      <p:pic>
        <p:nvPicPr>
          <p:cNvPr id="102" name="Poster GitHub Q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0" y="320040"/>
            <a:ext cx="1234440" cy="1234440"/>
          </a:xfrm>
          <a:prstGeom prst="rect">
            <a:avLst/>
          </a:prstGeom>
        </p:spPr>
      </p:pic>
      <p:sp>
        <p:nvSpPr>
          <p:cNvPr id="103" name="Poster GitHub URL"/>
          <p:cNvSpPr txBox="1"/>
          <p:nvPr/>
        </p:nvSpPr>
        <p:spPr>
          <a:xfrm>
            <a:off x="2642616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/>
            </a:pPr>
            <a:r>
              <a:t>github.com/Ro-netizen004/senescence-agent</a:t>
            </a:r>
          </a:p>
        </p:txBody>
      </p:sp>
      <p:pic>
        <p:nvPicPr>
          <p:cNvPr id="104" name="Poster UMAP Panel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0" y="11475720"/>
            <a:ext cx="5029200" cy="1373899"/>
          </a:xfrm>
          <a:prstGeom prst="rect">
            <a:avLst/>
          </a:prstGeom>
        </p:spPr>
      </p:pic>
      <p:sp>
        <p:nvSpPr>
          <p:cNvPr id="105" name="Poster UMAP Caption"/>
          <p:cNvSpPr txBox="1"/>
          <p:nvPr/>
        </p:nvSpPr>
        <p:spPr>
          <a:xfrm>
            <a:off x="17373600" y="1289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/>
            </a:pPr>
            <a:r>
              <a:t>App output: SenMayo + UMAP</a:t>
            </a:r>
          </a:p>
        </p:txBody>
      </p:sp>
      <p:sp>
        <p:nvSpPr>
          <p:cNvPr id="106" name="Poster Agent Mock"/>
          <p:cNvSpPr txBox="1"/>
          <p:nvPr/>
        </p:nvSpPr>
        <p:spPr>
          <a:xfrm>
            <a:off x="17373600" y="16322040"/>
            <a:ext cx="5669280" cy="960120"/>
          </a:xfrm>
          <a:prstGeom prst="rect">
            <a:avLst/>
          </a:prstGeom>
          <a:solidFill>
            <a:srgbClr val="F7F9F8"/>
          </a:solidFill>
          <a:ln>
            <a:solidFill>
              <a:srgbClr val="2E7D6F"/>
            </a:solidFill>
          </a:ln>
        </p:spPr>
        <p:txBody>
          <a:bodyPr wrap="square">
            <a:spAutoFit/>
          </a:bodyPr>
          <a:lstStyle/>
          <a:p>
            <a:pPr>
              <a:defRPr sz="700" b="0"/>
            </a:pPr>
            <a:r>
              <a:t>CHAT OUTPUT (DESeq2 table)</a:t>
            </a:r>
            <a:br/>
            <a:r>
              <a:t>10,002 genes padj&lt;0.05 · fibroblast senescent vs control</a:t>
            </a:r>
            <a:br/>
            <a:r>
              <a:t>BIRC5 -6.5 · MKI67 -5.2 · CDKN1A +2.5 · IL6 +1.6</a:t>
            </a:r>
            <a:br/>
            <a:r>
              <a:t>[System] inference_state=SIGNIFICANT_INFERENTIAL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672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Anthropic Sans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Senescence Agent — Poster</dc:title>
  <dc:subject>PptxGenJS Presentation</dc:subject>
  <dc:creator>PptxGenJS</dc:creator>
  <cp:lastModifiedBy>Rodela Ghosh</cp:lastModifiedBy>
  <cp:revision>3</cp:revision>
  <dcterms:created xsi:type="dcterms:W3CDTF">2026-07-09T20:01:39Z</dcterms:created>
  <dcterms:modified xsi:type="dcterms:W3CDTF">2026-07-09T20:29:26Z</dcterms:modified>
</cp:coreProperties>
</file>