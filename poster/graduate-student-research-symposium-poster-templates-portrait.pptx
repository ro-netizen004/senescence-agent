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2" r:id="rId2"/>
    <p:sldId id="257" r:id="rId3"/>
    <p:sldId id="260" r:id="rId4"/>
    <p:sldId id="263" r:id="rId5"/>
    <p:sldId id="259" r:id="rId6"/>
    <p:sldId id="264" r:id="rId7"/>
    <p:sldId id="261" r:id="rId8"/>
    <p:sldId id="265" r:id="rId9"/>
    <p:sldId id="256" r:id="rId10"/>
  </p:sldIdLst>
  <p:sldSz cx="32918400" cy="4389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24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747"/>
    <a:srgbClr val="EDEBD1"/>
    <a:srgbClr val="9CCB3B"/>
    <a:srgbClr val="009374"/>
    <a:srgbClr val="005432"/>
    <a:srgbClr val="CFC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>
    <p:restoredLeft sz="9011" autoAdjust="0"/>
    <p:restoredTop sz="90034" autoAdjust="0"/>
  </p:normalViewPr>
  <p:slideViewPr>
    <p:cSldViewPr snapToGrid="0">
      <p:cViewPr varScale="1">
        <p:scale>
          <a:sx n="17" d="100"/>
          <a:sy n="17" d="100"/>
        </p:scale>
        <p:origin x="4051" y="173"/>
      </p:cViewPr>
      <p:guideLst>
        <p:guide orient="horz" pos="13824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4C131E-96F1-4D26-922E-05633E2B86C4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C7F4D3-56AE-425C-974C-9839AFFAD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591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qrcode-monkey.com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qr-code-generator.com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qrcode-monkey.com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qr-code-generator.com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qrcode-monkey.com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qr-code-generator.com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qrcode-monkey.com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qr-code-generator.com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qrcode-monkey.com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qr-code-generator.com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qrcode-monkey.com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qr-code-generator.com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qrcode-monkey.com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qr-code-generator.com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qrcode-monkey.com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qr-code-generator.com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osf.io/ef53g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qr-code-generator.com/" TargetMode="External"/><Relationship Id="rId4" Type="http://schemas.openxmlformats.org/officeDocument/2006/relationships/hyperlink" Target="https://www.qrcode-monkey.com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Traditional Style Poster – 3 equal panels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aseline="0" dirty="0"/>
              <a:t>Use Arial font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For</a:t>
            </a:r>
            <a:r>
              <a:rPr lang="en-US" baseline="0" dirty="0"/>
              <a:t> text boxes</a:t>
            </a:r>
            <a:r>
              <a:rPr lang="en-US" dirty="0"/>
              <a:t>: </a:t>
            </a:r>
            <a:r>
              <a:rPr lang="en-US" b="1" dirty="0"/>
              <a:t>Do not drop below font size 28</a:t>
            </a:r>
            <a:r>
              <a:rPr lang="en-US" dirty="0"/>
              <a:t>, but if you have extra space, you can up the font size until the space is full.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You</a:t>
            </a:r>
            <a:r>
              <a:rPr lang="en-US" baseline="0" dirty="0"/>
              <a:t> can move around and customize the template to best fit your information. 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Add a QR code</a:t>
            </a:r>
            <a:r>
              <a:rPr lang="en-US" baseline="0" dirty="0"/>
              <a:t> to direct people to your paper or a website for more information. </a:t>
            </a:r>
            <a:r>
              <a:rPr lang="en-US" dirty="0"/>
              <a:t>Create a</a:t>
            </a:r>
            <a:r>
              <a:rPr lang="en-US" baseline="0" dirty="0"/>
              <a:t> QR Code here: </a:t>
            </a:r>
            <a:r>
              <a:rPr lang="en-US" sz="5400" dirty="0">
                <a:hlinkClick r:id="rId3"/>
              </a:rPr>
              <a:t>https://www.qrcode-monkey.com/ </a:t>
            </a:r>
            <a:r>
              <a:rPr lang="en-US" sz="5400" baseline="0" dirty="0"/>
              <a:t> 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or here: 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  <a:hlinkClick r:id="rId4"/>
              </a:rPr>
              <a:t>https://www.qr-code-generator.com/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 or remove the QR code if you do</a:t>
            </a:r>
            <a:r>
              <a:rPr lang="en-US" sz="5400" baseline="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 not want to use it</a:t>
            </a:r>
            <a:endParaRPr lang="en-US" sz="5400" dirty="0">
              <a:solidFill>
                <a:srgbClr val="2196F3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C7F4D3-56AE-425C-974C-9839AFFAD2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20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Traditional Style Poster, Light – 3 equal panels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aseline="0" dirty="0"/>
              <a:t>Use Arial font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For</a:t>
            </a:r>
            <a:r>
              <a:rPr lang="en-US" baseline="0" dirty="0"/>
              <a:t> text boxes</a:t>
            </a:r>
            <a:r>
              <a:rPr lang="en-US" dirty="0"/>
              <a:t>: </a:t>
            </a:r>
            <a:r>
              <a:rPr lang="en-US" b="1" dirty="0"/>
              <a:t>Do not drop below font size 28</a:t>
            </a:r>
            <a:r>
              <a:rPr lang="en-US" dirty="0"/>
              <a:t>, but if you have extra space, you can up the font size until the space is full.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You</a:t>
            </a:r>
            <a:r>
              <a:rPr lang="en-US" baseline="0" dirty="0"/>
              <a:t> can move around and customize the template to best fit your information. 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Add a QR code</a:t>
            </a:r>
            <a:r>
              <a:rPr lang="en-US" baseline="0" dirty="0"/>
              <a:t> to direct people to your paper or a website for more information. </a:t>
            </a:r>
            <a:r>
              <a:rPr lang="en-US" dirty="0"/>
              <a:t>Create a</a:t>
            </a:r>
            <a:r>
              <a:rPr lang="en-US" baseline="0" dirty="0"/>
              <a:t> QR Code here: </a:t>
            </a:r>
            <a:r>
              <a:rPr lang="en-US" sz="5400" dirty="0">
                <a:hlinkClick r:id="rId3"/>
              </a:rPr>
              <a:t>https://www.qrcode-monkey.com/ </a:t>
            </a:r>
            <a:r>
              <a:rPr lang="en-US" sz="5400" baseline="0" dirty="0"/>
              <a:t> 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or here: 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  <a:hlinkClick r:id="rId4"/>
              </a:rPr>
              <a:t>https://www.qr-code-generator.com/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 or remove the QR code if you do</a:t>
            </a:r>
            <a:r>
              <a:rPr lang="en-US" sz="5400" baseline="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 not want to use it</a:t>
            </a:r>
            <a:endParaRPr lang="en-US" sz="5400" dirty="0">
              <a:solidFill>
                <a:srgbClr val="2196F3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C7F4D3-56AE-425C-974C-9839AFFAD2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88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Traditional Style Poster – Larger center panel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aseline="0" dirty="0"/>
              <a:t>Use Arial font (sans serif fonts)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For</a:t>
            </a:r>
            <a:r>
              <a:rPr lang="en-US" baseline="0" dirty="0"/>
              <a:t> text boxes</a:t>
            </a:r>
            <a:r>
              <a:rPr lang="en-US" dirty="0"/>
              <a:t>: </a:t>
            </a:r>
            <a:r>
              <a:rPr lang="en-US" b="1" dirty="0"/>
              <a:t>Do not drop below font size 28</a:t>
            </a:r>
            <a:r>
              <a:rPr lang="en-US" dirty="0"/>
              <a:t>, but if you have extra space, you can up the font size until the space is full.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You</a:t>
            </a:r>
            <a:r>
              <a:rPr lang="en-US" baseline="0" dirty="0"/>
              <a:t> can move around and customize the template to best fit your information. 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Add a QR code</a:t>
            </a:r>
            <a:r>
              <a:rPr lang="en-US" baseline="0" dirty="0"/>
              <a:t> to direct people to your paper or a website for more information. </a:t>
            </a:r>
            <a:r>
              <a:rPr lang="en-US" dirty="0"/>
              <a:t>Add a QR code</a:t>
            </a:r>
            <a:r>
              <a:rPr lang="en-US" baseline="0" dirty="0"/>
              <a:t> to direct people to your paper or a website for more information. </a:t>
            </a:r>
            <a:r>
              <a:rPr lang="en-US" dirty="0"/>
              <a:t>Create a</a:t>
            </a:r>
            <a:r>
              <a:rPr lang="en-US" baseline="0" dirty="0"/>
              <a:t> QR Code here: </a:t>
            </a:r>
            <a:r>
              <a:rPr lang="en-US" sz="5400" dirty="0">
                <a:hlinkClick r:id="rId3"/>
              </a:rPr>
              <a:t>https://www.qrcode-monkey.com/ </a:t>
            </a:r>
            <a:r>
              <a:rPr lang="en-US" sz="5400" baseline="0" dirty="0"/>
              <a:t> 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or here: 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  <a:hlinkClick r:id="rId4"/>
              </a:rPr>
              <a:t>https://www.qr-code-generator.com/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 or remove the QR code if you do</a:t>
            </a:r>
            <a:r>
              <a:rPr lang="en-US" sz="5400" baseline="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 not want to use it</a:t>
            </a:r>
            <a:endParaRPr lang="en-US" sz="5400" dirty="0">
              <a:solidFill>
                <a:srgbClr val="2196F3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C7F4D3-56AE-425C-974C-9839AFFAD2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229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Traditional Style Poster, Light – Larger Center Panel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aseline="0" dirty="0"/>
              <a:t>Use Arial font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For</a:t>
            </a:r>
            <a:r>
              <a:rPr lang="en-US" baseline="0" dirty="0"/>
              <a:t> text boxes</a:t>
            </a:r>
            <a:r>
              <a:rPr lang="en-US" dirty="0"/>
              <a:t>: </a:t>
            </a:r>
            <a:r>
              <a:rPr lang="en-US" b="1" dirty="0"/>
              <a:t>Do not drop below font size 28</a:t>
            </a:r>
            <a:r>
              <a:rPr lang="en-US" dirty="0"/>
              <a:t>, but if you have extra space, you can up the font size until the space is full.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You</a:t>
            </a:r>
            <a:r>
              <a:rPr lang="en-US" baseline="0" dirty="0"/>
              <a:t> can move around and customize the template to best fit your information. 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Add a QR code</a:t>
            </a:r>
            <a:r>
              <a:rPr lang="en-US" baseline="0" dirty="0"/>
              <a:t> to direct people to your paper or a website for more information. </a:t>
            </a:r>
            <a:r>
              <a:rPr lang="en-US" dirty="0"/>
              <a:t>Create a</a:t>
            </a:r>
            <a:r>
              <a:rPr lang="en-US" baseline="0" dirty="0"/>
              <a:t> QR Code here: </a:t>
            </a:r>
            <a:r>
              <a:rPr lang="en-US" sz="5400" dirty="0">
                <a:hlinkClick r:id="rId3"/>
              </a:rPr>
              <a:t>https://www.qrcode-monkey.com/ </a:t>
            </a:r>
            <a:r>
              <a:rPr lang="en-US" sz="5400" baseline="0" dirty="0"/>
              <a:t> 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or here: 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  <a:hlinkClick r:id="rId4"/>
              </a:rPr>
              <a:t>https://www.qr-code-generator.com/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 or remove the QR code if you do</a:t>
            </a:r>
            <a:r>
              <a:rPr lang="en-US" sz="5400" baseline="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 not want to use it</a:t>
            </a:r>
            <a:endParaRPr lang="en-US" sz="5400" dirty="0">
              <a:solidFill>
                <a:srgbClr val="2196F3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C7F4D3-56AE-425C-974C-9839AFFAD2E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827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Traditional Style Poster – Large Results section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aseline="0" dirty="0"/>
              <a:t>Use Arial font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For</a:t>
            </a:r>
            <a:r>
              <a:rPr lang="en-US" baseline="0" dirty="0"/>
              <a:t> text boxes</a:t>
            </a:r>
            <a:r>
              <a:rPr lang="en-US" dirty="0"/>
              <a:t>: </a:t>
            </a:r>
            <a:r>
              <a:rPr lang="en-US" b="1" dirty="0"/>
              <a:t>Do not drop below font size 28</a:t>
            </a:r>
            <a:r>
              <a:rPr lang="en-US" dirty="0"/>
              <a:t>, but if you have extra space, you can up the font size until the space is full.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You</a:t>
            </a:r>
            <a:r>
              <a:rPr lang="en-US" baseline="0" dirty="0"/>
              <a:t> can move around and customize the template to best fit your information. 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Add a QR code</a:t>
            </a:r>
            <a:r>
              <a:rPr lang="en-US" baseline="0" dirty="0"/>
              <a:t> to direct people to your paper or a website for more information. </a:t>
            </a:r>
            <a:r>
              <a:rPr lang="en-US" dirty="0"/>
              <a:t>Create a</a:t>
            </a:r>
            <a:r>
              <a:rPr lang="en-US" baseline="0" dirty="0"/>
              <a:t> QR Code here: </a:t>
            </a:r>
            <a:r>
              <a:rPr lang="en-US" sz="5400" dirty="0">
                <a:hlinkClick r:id="rId3"/>
              </a:rPr>
              <a:t>https://www.qrcode-monkey.com/ </a:t>
            </a:r>
            <a:r>
              <a:rPr lang="en-US" sz="5400" baseline="0" dirty="0"/>
              <a:t> 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or here: 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  <a:hlinkClick r:id="rId4"/>
              </a:rPr>
              <a:t>https://www.qr-code-generator.com/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 or remove the QR code if you do</a:t>
            </a:r>
            <a:r>
              <a:rPr lang="en-US" sz="5400" baseline="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 not want to use it</a:t>
            </a:r>
            <a:endParaRPr lang="en-US" sz="5400" dirty="0">
              <a:solidFill>
                <a:srgbClr val="2196F3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C7F4D3-56AE-425C-974C-9839AFFAD2E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574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Traditional Style Poster, Light – Large Results Section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aseline="0" dirty="0"/>
              <a:t>Use Arial font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For</a:t>
            </a:r>
            <a:r>
              <a:rPr lang="en-US" baseline="0" dirty="0"/>
              <a:t> text boxes</a:t>
            </a:r>
            <a:r>
              <a:rPr lang="en-US" dirty="0"/>
              <a:t>: </a:t>
            </a:r>
            <a:r>
              <a:rPr lang="en-US" b="1" dirty="0"/>
              <a:t>Do not drop below font size 28</a:t>
            </a:r>
            <a:r>
              <a:rPr lang="en-US" dirty="0"/>
              <a:t>, but if you have extra space, you can up the font size until the space is full.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You</a:t>
            </a:r>
            <a:r>
              <a:rPr lang="en-US" baseline="0" dirty="0"/>
              <a:t> can move around and customize the template to best fit your information. 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Add a QR code</a:t>
            </a:r>
            <a:r>
              <a:rPr lang="en-US" baseline="0" dirty="0"/>
              <a:t> to direct people to your paper or a website for more information. </a:t>
            </a:r>
            <a:r>
              <a:rPr lang="en-US" dirty="0"/>
              <a:t>Create a</a:t>
            </a:r>
            <a:r>
              <a:rPr lang="en-US" baseline="0" dirty="0"/>
              <a:t> QR Code here: </a:t>
            </a:r>
            <a:r>
              <a:rPr lang="en-US" sz="5400" dirty="0">
                <a:hlinkClick r:id="rId3"/>
              </a:rPr>
              <a:t>https://www.qrcode-monkey.com/ </a:t>
            </a:r>
            <a:r>
              <a:rPr lang="en-US" sz="5400" baseline="0" dirty="0"/>
              <a:t> 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or here: 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  <a:hlinkClick r:id="rId4"/>
              </a:rPr>
              <a:t>https://www.qr-code-generator.com/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 or remove the QR code if you do</a:t>
            </a:r>
            <a:r>
              <a:rPr lang="en-US" sz="5400" baseline="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 not want to use it</a:t>
            </a:r>
            <a:endParaRPr lang="en-US" sz="5400" dirty="0">
              <a:solidFill>
                <a:srgbClr val="2196F3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C7F4D3-56AE-425C-974C-9839AFFAD2E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3881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Traditional Style Poster – Horizontal Panels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aseline="0" dirty="0"/>
              <a:t>Use Arial font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For</a:t>
            </a:r>
            <a:r>
              <a:rPr lang="en-US" baseline="0" dirty="0"/>
              <a:t> text boxes</a:t>
            </a:r>
            <a:r>
              <a:rPr lang="en-US" dirty="0"/>
              <a:t>: </a:t>
            </a:r>
            <a:r>
              <a:rPr lang="en-US" b="1" dirty="0"/>
              <a:t>Do not drop below font size 28</a:t>
            </a:r>
            <a:r>
              <a:rPr lang="en-US" dirty="0"/>
              <a:t>, but if you have extra space, you can up the font size until the space is full.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You</a:t>
            </a:r>
            <a:r>
              <a:rPr lang="en-US" baseline="0" dirty="0"/>
              <a:t> can move around and customize the template to best fit your information. 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Add a QR code</a:t>
            </a:r>
            <a:r>
              <a:rPr lang="en-US" baseline="0" dirty="0"/>
              <a:t> to direct people to your paper or a website for more information. </a:t>
            </a:r>
            <a:r>
              <a:rPr lang="en-US" dirty="0"/>
              <a:t>Create a</a:t>
            </a:r>
            <a:r>
              <a:rPr lang="en-US" baseline="0" dirty="0"/>
              <a:t> QR Code here: </a:t>
            </a:r>
            <a:r>
              <a:rPr lang="en-US" sz="5400" dirty="0">
                <a:hlinkClick r:id="rId3"/>
              </a:rPr>
              <a:t>https://www.qrcode-monkey.com/ </a:t>
            </a:r>
            <a:r>
              <a:rPr lang="en-US" sz="5400" baseline="0" dirty="0"/>
              <a:t> 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or here: 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  <a:hlinkClick r:id="rId4"/>
              </a:rPr>
              <a:t>https://www.qr-code-generator.com/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 or remove the QR code if you do</a:t>
            </a:r>
            <a:r>
              <a:rPr lang="en-US" sz="5400" baseline="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 not want to use it</a:t>
            </a:r>
            <a:endParaRPr lang="en-US" sz="5400" dirty="0">
              <a:solidFill>
                <a:srgbClr val="2196F3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C7F4D3-56AE-425C-974C-9839AFFAD2E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458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Traditional Style Poster, Light – Horizontal Panels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aseline="0" dirty="0"/>
              <a:t>Use Arial font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For</a:t>
            </a:r>
            <a:r>
              <a:rPr lang="en-US" baseline="0" dirty="0"/>
              <a:t> text boxes</a:t>
            </a:r>
            <a:r>
              <a:rPr lang="en-US" dirty="0"/>
              <a:t>: </a:t>
            </a:r>
            <a:r>
              <a:rPr lang="en-US" b="1" dirty="0"/>
              <a:t>Do not drop below font size 28</a:t>
            </a:r>
            <a:r>
              <a:rPr lang="en-US" dirty="0"/>
              <a:t>, but if you have extra space, you can up the font size until the space is full.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You</a:t>
            </a:r>
            <a:r>
              <a:rPr lang="en-US" baseline="0" dirty="0"/>
              <a:t> can move around and customize the template to best fit your information. 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Add a QR code</a:t>
            </a:r>
            <a:r>
              <a:rPr lang="en-US" baseline="0" dirty="0"/>
              <a:t> to direct people to your paper or a website for more information. </a:t>
            </a:r>
            <a:r>
              <a:rPr lang="en-US" dirty="0"/>
              <a:t>Create a</a:t>
            </a:r>
            <a:r>
              <a:rPr lang="en-US" baseline="0" dirty="0"/>
              <a:t> QR Code here: </a:t>
            </a:r>
            <a:r>
              <a:rPr lang="en-US" sz="5400" dirty="0">
                <a:hlinkClick r:id="rId3"/>
              </a:rPr>
              <a:t>https://www.qrcode-monkey.com/ </a:t>
            </a:r>
            <a:r>
              <a:rPr lang="en-US" sz="5400" baseline="0" dirty="0"/>
              <a:t> 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or here: 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  <a:hlinkClick r:id="rId4"/>
              </a:rPr>
              <a:t>https://www.qr-code-generator.com/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 or remove the QR code if you do</a:t>
            </a:r>
            <a:r>
              <a:rPr lang="en-US" sz="5400" baseline="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 not want to use it</a:t>
            </a:r>
            <a:endParaRPr lang="en-US" sz="5400" dirty="0">
              <a:solidFill>
                <a:srgbClr val="2196F3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C7F4D3-56AE-425C-974C-9839AFFAD2E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2338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Billboard Style Poster – Derived from Mike Morrison’s Better Scientific Poster Templates at </a:t>
            </a:r>
            <a:r>
              <a:rPr lang="en-US" dirty="0">
                <a:hlinkClick r:id="rId3"/>
              </a:rPr>
              <a:t>https://osf.io/ef53g/</a:t>
            </a:r>
            <a:endParaRPr lang="en-US" baseline="0" dirty="0"/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aseline="0" dirty="0"/>
              <a:t>Use Arial font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For</a:t>
            </a:r>
            <a:r>
              <a:rPr lang="en-US" baseline="0" dirty="0"/>
              <a:t> text boxes</a:t>
            </a:r>
            <a:r>
              <a:rPr lang="en-US" dirty="0"/>
              <a:t>: </a:t>
            </a:r>
            <a:r>
              <a:rPr lang="en-US" b="1" dirty="0"/>
              <a:t>Do not drop below font size 28</a:t>
            </a:r>
            <a:r>
              <a:rPr lang="en-US" dirty="0"/>
              <a:t>, but if you have extra space, you can up the font size until the space is full.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You</a:t>
            </a:r>
            <a:r>
              <a:rPr lang="en-US" baseline="0" dirty="0"/>
              <a:t> can move around and customize the template to best fit your information. 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Add a QR code</a:t>
            </a:r>
            <a:r>
              <a:rPr lang="en-US" baseline="0" dirty="0"/>
              <a:t> to direct people to your paper or a website for more information. </a:t>
            </a:r>
            <a:r>
              <a:rPr lang="en-US" dirty="0"/>
              <a:t>Create a</a:t>
            </a:r>
            <a:r>
              <a:rPr lang="en-US" baseline="0" dirty="0"/>
              <a:t> QR Code here: </a:t>
            </a:r>
            <a:r>
              <a:rPr lang="en-US" sz="5400" dirty="0">
                <a:hlinkClick r:id="rId4"/>
              </a:rPr>
              <a:t>https://www.qrcode-monkey.com/ </a:t>
            </a:r>
            <a:r>
              <a:rPr lang="en-US" sz="5400" baseline="0" dirty="0"/>
              <a:t> 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or here: 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  <a:hlinkClick r:id="rId5"/>
              </a:rPr>
              <a:t>https://www.qr-code-generator.com/</a:t>
            </a:r>
            <a:r>
              <a:rPr lang="en-US" sz="540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 or remove the QR code if you do</a:t>
            </a:r>
            <a:r>
              <a:rPr lang="en-US" sz="5400" baseline="0" dirty="0">
                <a:solidFill>
                  <a:srgbClr val="2196F3"/>
                </a:solidFill>
                <a:latin typeface="Lato" panose="020F0502020204030203" pitchFamily="34" charset="0"/>
                <a:cs typeface="Arial" panose="020B0604020202020204" pitchFamily="34" charset="0"/>
              </a:rPr>
              <a:t> not want to use it</a:t>
            </a:r>
            <a:endParaRPr lang="en-US" sz="5400" dirty="0">
              <a:solidFill>
                <a:srgbClr val="2196F3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F4D3-56AE-425C-974C-9839AFFAD2E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421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7183123"/>
            <a:ext cx="27980640" cy="1528064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3053043"/>
            <a:ext cx="24688800" cy="10596877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8CB20-CB5C-4BD2-AB64-ED46D375D5F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5DFE4-6964-4E05-982A-6474F3E08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26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8CB20-CB5C-4BD2-AB64-ED46D375D5F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5DFE4-6964-4E05-982A-6474F3E08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109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10942333"/>
            <a:ext cx="28392120" cy="18257517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9372573"/>
            <a:ext cx="28392120" cy="9601197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/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8CB20-CB5C-4BD2-AB64-ED46D375D5F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5DFE4-6964-4E05-982A-6474F3E08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976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8CB20-CB5C-4BD2-AB64-ED46D375D5F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5DFE4-6964-4E05-982A-6474F3E08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398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336810"/>
            <a:ext cx="28392120" cy="84836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10759443"/>
            <a:ext cx="13926024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6032480"/>
            <a:ext cx="13926024" cy="235813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10759443"/>
            <a:ext cx="13994608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6032480"/>
            <a:ext cx="13994608" cy="235813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8CB20-CB5C-4BD2-AB64-ED46D375D5F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5DFE4-6964-4E05-982A-6474F3E08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608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8CB20-CB5C-4BD2-AB64-ED46D375D5F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5DFE4-6964-4E05-982A-6474F3E08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6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8CB20-CB5C-4BD2-AB64-ED46D375D5F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5DFE4-6964-4E05-982A-6474F3E08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865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6319530"/>
            <a:ext cx="16664940" cy="311912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8CB20-CB5C-4BD2-AB64-ED46D375D5F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5DFE4-6964-4E05-982A-6474F3E08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56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6319530"/>
            <a:ext cx="16664940" cy="3119120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8CB20-CB5C-4BD2-AB64-ED46D375D5F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5DFE4-6964-4E05-982A-6474F3E08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141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8CB20-CB5C-4BD2-AB64-ED46D375D5F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5DFE4-6964-4E05-982A-6474F3E08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52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2336800"/>
            <a:ext cx="7098030" cy="3719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2336800"/>
            <a:ext cx="20882610" cy="3719576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8CB20-CB5C-4BD2-AB64-ED46D375D5F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5DFE4-6964-4E05-982A-6474F3E08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40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8CB20-CB5C-4BD2-AB64-ED46D375D5F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5DFE4-6964-4E05-982A-6474F3E08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843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6B3EEA-ED06-4711-B10A-9B3D133CDB33}"/>
              </a:ext>
            </a:extLst>
          </p:cNvPr>
          <p:cNvSpPr/>
          <p:nvPr/>
        </p:nvSpPr>
        <p:spPr>
          <a:xfrm>
            <a:off x="457200" y="457200"/>
            <a:ext cx="32004000" cy="5486400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ADE31EA-FDCA-4FA4-BDAD-BACD08B23014}"/>
              </a:ext>
            </a:extLst>
          </p:cNvPr>
          <p:cNvGrpSpPr/>
          <p:nvPr/>
        </p:nvGrpSpPr>
        <p:grpSpPr>
          <a:xfrm>
            <a:off x="457200" y="39776400"/>
            <a:ext cx="32004000" cy="3657600"/>
            <a:chOff x="457200" y="39776400"/>
            <a:chExt cx="32004000" cy="36576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2C5D85E-3601-4D31-AF0D-49759B74874B}"/>
                </a:ext>
              </a:extLst>
            </p:cNvPr>
            <p:cNvSpPr/>
            <p:nvPr/>
          </p:nvSpPr>
          <p:spPr>
            <a:xfrm>
              <a:off x="457200" y="39776400"/>
              <a:ext cx="32004000" cy="3657600"/>
            </a:xfrm>
            <a:prstGeom prst="rect">
              <a:avLst/>
            </a:prstGeom>
            <a:solidFill>
              <a:srgbClr val="0067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 descr="USouthFlorida-darkbg-1c-white-h.png">
              <a:extLst>
                <a:ext uri="{FF2B5EF4-FFF2-40B4-BE49-F238E27FC236}">
                  <a16:creationId xmlns:a16="http://schemas.microsoft.com/office/drawing/2014/main" id="{60EBD9A8-02D4-4D9F-AF2C-5278D5E02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44326" y="40805100"/>
              <a:ext cx="9429749" cy="1600200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8812B75-2F39-4F27-84D4-C23E776A09BA}"/>
              </a:ext>
            </a:extLst>
          </p:cNvPr>
          <p:cNvSpPr/>
          <p:nvPr/>
        </p:nvSpPr>
        <p:spPr>
          <a:xfrm>
            <a:off x="930777" y="6890018"/>
            <a:ext cx="9601200" cy="15544800"/>
          </a:xfrm>
          <a:prstGeom prst="rect">
            <a:avLst/>
          </a:prstGeom>
          <a:noFill/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F72644-669E-4B84-8000-30F50C4CECA4}"/>
              </a:ext>
            </a:extLst>
          </p:cNvPr>
          <p:cNvSpPr/>
          <p:nvPr/>
        </p:nvSpPr>
        <p:spPr>
          <a:xfrm>
            <a:off x="11647236" y="6890018"/>
            <a:ext cx="9601200" cy="32004000"/>
          </a:xfrm>
          <a:prstGeom prst="rect">
            <a:avLst/>
          </a:prstGeom>
          <a:noFill/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A919B3-66A0-4766-88A7-F322ADCE46D8}"/>
              </a:ext>
            </a:extLst>
          </p:cNvPr>
          <p:cNvSpPr/>
          <p:nvPr/>
        </p:nvSpPr>
        <p:spPr>
          <a:xfrm>
            <a:off x="22368039" y="6890018"/>
            <a:ext cx="9601200" cy="15544800"/>
          </a:xfrm>
          <a:prstGeom prst="rect">
            <a:avLst/>
          </a:prstGeom>
          <a:noFill/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A36EF1-1E1F-4D1A-8E1D-89135C385498}"/>
              </a:ext>
            </a:extLst>
          </p:cNvPr>
          <p:cNvSpPr txBox="1"/>
          <p:nvPr/>
        </p:nvSpPr>
        <p:spPr>
          <a:xfrm>
            <a:off x="2743200" y="1207509"/>
            <a:ext cx="2743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en-US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25375D-9D6D-479F-9390-2846100F79C4}"/>
              </a:ext>
            </a:extLst>
          </p:cNvPr>
          <p:cNvSpPr txBox="1"/>
          <p:nvPr/>
        </p:nvSpPr>
        <p:spPr>
          <a:xfrm>
            <a:off x="2743200" y="3234981"/>
            <a:ext cx="2743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Author(s)</a:t>
            </a:r>
            <a:endParaRPr lang="en-US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511F6A-78B0-4BD0-857B-2DEA5635AB5E}"/>
              </a:ext>
            </a:extLst>
          </p:cNvPr>
          <p:cNvSpPr txBox="1"/>
          <p:nvPr/>
        </p:nvSpPr>
        <p:spPr>
          <a:xfrm>
            <a:off x="2743200" y="4708455"/>
            <a:ext cx="2743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Affiliation – Department, College, University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8AF760-C359-4592-BF1F-0C7A94DA9F89}"/>
              </a:ext>
            </a:extLst>
          </p:cNvPr>
          <p:cNvSpPr txBox="1"/>
          <p:nvPr/>
        </p:nvSpPr>
        <p:spPr>
          <a:xfrm>
            <a:off x="1304224" y="7109297"/>
            <a:ext cx="8869680" cy="541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Explain why your study matters </a:t>
            </a:r>
          </a:p>
          <a:p>
            <a:pPr>
              <a:lnSpc>
                <a:spcPct val="120000"/>
              </a:lnSpc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	(feel free to add graphics)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Give context for the gap you’re filling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8AF760-C359-4592-BF1F-0C7A94DA9F89}"/>
              </a:ext>
            </a:extLst>
          </p:cNvPr>
          <p:cNvSpPr txBox="1"/>
          <p:nvPr/>
        </p:nvSpPr>
        <p:spPr>
          <a:xfrm>
            <a:off x="1288851" y="23513120"/>
            <a:ext cx="8869680" cy="6215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How did you find this?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Collected [what] from [population]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How you tested it.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Illustrate your methods if you can!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3038D2-6694-4FF1-AFD6-35D55E87C41A}"/>
              </a:ext>
            </a:extLst>
          </p:cNvPr>
          <p:cNvSpPr/>
          <p:nvPr/>
        </p:nvSpPr>
        <p:spPr>
          <a:xfrm>
            <a:off x="12024360" y="7109297"/>
            <a:ext cx="8869680" cy="541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Graph/table with 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essential results only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All the other correlations can be placed on the other side of the poster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3038D2-6694-4FF1-AFD6-35D55E87C41A}"/>
              </a:ext>
            </a:extLst>
          </p:cNvPr>
          <p:cNvSpPr/>
          <p:nvPr/>
        </p:nvSpPr>
        <p:spPr>
          <a:xfrm>
            <a:off x="22733799" y="7109297"/>
            <a:ext cx="8869680" cy="629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“If this result actually generalized and I didn’t have to humbly disclaim the possibility of a thousand confounds and limitations, it would imply that….”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8812B75-2F39-4F27-84D4-C23E776A09BA}"/>
              </a:ext>
            </a:extLst>
          </p:cNvPr>
          <p:cNvSpPr/>
          <p:nvPr/>
        </p:nvSpPr>
        <p:spPr>
          <a:xfrm>
            <a:off x="930777" y="23307675"/>
            <a:ext cx="9601200" cy="15544800"/>
          </a:xfrm>
          <a:prstGeom prst="rect">
            <a:avLst/>
          </a:prstGeom>
          <a:noFill/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8AF760-C359-4592-BF1F-0C7A94DA9F89}"/>
              </a:ext>
            </a:extLst>
          </p:cNvPr>
          <p:cNvSpPr txBox="1"/>
          <p:nvPr/>
        </p:nvSpPr>
        <p:spPr>
          <a:xfrm>
            <a:off x="22733799" y="23513120"/>
            <a:ext cx="8869680" cy="629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Additional Information</a:t>
            </a:r>
          </a:p>
          <a:p>
            <a:pPr marL="742950" indent="-742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</a:p>
          <a:p>
            <a:pPr marL="742950" indent="-742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Acknowledgements</a:t>
            </a:r>
          </a:p>
          <a:p>
            <a:pPr marL="742950" indent="-742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Literature Cited</a:t>
            </a:r>
          </a:p>
          <a:p>
            <a:pPr marL="742950" indent="-742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Further Information</a:t>
            </a:r>
          </a:p>
          <a:p>
            <a:pPr marL="742950" indent="-742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(can break up into separate boxes)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812B75-2F39-4F27-84D4-C23E776A09BA}"/>
              </a:ext>
            </a:extLst>
          </p:cNvPr>
          <p:cNvSpPr/>
          <p:nvPr/>
        </p:nvSpPr>
        <p:spPr>
          <a:xfrm>
            <a:off x="22368039" y="23307675"/>
            <a:ext cx="9601200" cy="15544800"/>
          </a:xfrm>
          <a:prstGeom prst="rect">
            <a:avLst/>
          </a:prstGeom>
          <a:noFill/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414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0000">
              <a:schemeClr val="bg1"/>
            </a:gs>
            <a:gs pos="100000">
              <a:srgbClr val="EDEBD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8812B75-2F39-4F27-84D4-C23E776A09BA}"/>
              </a:ext>
            </a:extLst>
          </p:cNvPr>
          <p:cNvSpPr/>
          <p:nvPr/>
        </p:nvSpPr>
        <p:spPr>
          <a:xfrm>
            <a:off x="930777" y="6890018"/>
            <a:ext cx="9601200" cy="15544800"/>
          </a:xfrm>
          <a:prstGeom prst="rect">
            <a:avLst/>
          </a:prstGeom>
          <a:solidFill>
            <a:schemeClr val="bg1"/>
          </a:solidFill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F72644-669E-4B84-8000-30F50C4CECA4}"/>
              </a:ext>
            </a:extLst>
          </p:cNvPr>
          <p:cNvSpPr/>
          <p:nvPr/>
        </p:nvSpPr>
        <p:spPr>
          <a:xfrm>
            <a:off x="11647236" y="6890018"/>
            <a:ext cx="9601200" cy="33375600"/>
          </a:xfrm>
          <a:prstGeom prst="rect">
            <a:avLst/>
          </a:prstGeom>
          <a:solidFill>
            <a:schemeClr val="bg1"/>
          </a:solidFill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A919B3-66A0-4766-88A7-F322ADCE46D8}"/>
              </a:ext>
            </a:extLst>
          </p:cNvPr>
          <p:cNvSpPr/>
          <p:nvPr/>
        </p:nvSpPr>
        <p:spPr>
          <a:xfrm>
            <a:off x="22368039" y="6890018"/>
            <a:ext cx="9601200" cy="16916400"/>
          </a:xfrm>
          <a:prstGeom prst="rect">
            <a:avLst/>
          </a:prstGeom>
          <a:solidFill>
            <a:schemeClr val="bg1"/>
          </a:solidFill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A36EF1-1E1F-4D1A-8E1D-89135C385498}"/>
              </a:ext>
            </a:extLst>
          </p:cNvPr>
          <p:cNvSpPr txBox="1"/>
          <p:nvPr/>
        </p:nvSpPr>
        <p:spPr>
          <a:xfrm>
            <a:off x="2743200" y="1207509"/>
            <a:ext cx="2743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0067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en-US" sz="9600" dirty="0">
              <a:solidFill>
                <a:srgbClr val="00674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25375D-9D6D-479F-9390-2846100F79C4}"/>
              </a:ext>
            </a:extLst>
          </p:cNvPr>
          <p:cNvSpPr txBox="1"/>
          <p:nvPr/>
        </p:nvSpPr>
        <p:spPr>
          <a:xfrm>
            <a:off x="2743200" y="3234981"/>
            <a:ext cx="2743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Author(s)</a:t>
            </a:r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511F6A-78B0-4BD0-857B-2DEA5635AB5E}"/>
              </a:ext>
            </a:extLst>
          </p:cNvPr>
          <p:cNvSpPr txBox="1"/>
          <p:nvPr/>
        </p:nvSpPr>
        <p:spPr>
          <a:xfrm>
            <a:off x="2743200" y="4708455"/>
            <a:ext cx="2743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67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Affiliation – Department, College, University</a:t>
            </a:r>
            <a:endParaRPr lang="en-US" sz="4000" dirty="0">
              <a:solidFill>
                <a:srgbClr val="00674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8AF760-C359-4592-BF1F-0C7A94DA9F89}"/>
              </a:ext>
            </a:extLst>
          </p:cNvPr>
          <p:cNvSpPr txBox="1"/>
          <p:nvPr/>
        </p:nvSpPr>
        <p:spPr>
          <a:xfrm>
            <a:off x="1304224" y="7109297"/>
            <a:ext cx="8869680" cy="541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Explain why your study matters </a:t>
            </a:r>
          </a:p>
          <a:p>
            <a:pPr>
              <a:lnSpc>
                <a:spcPct val="120000"/>
              </a:lnSpc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	(feel free to add graphics)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Give context for the gap you’re filling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8812B75-2F39-4F27-84D4-C23E776A09BA}"/>
              </a:ext>
            </a:extLst>
          </p:cNvPr>
          <p:cNvSpPr/>
          <p:nvPr/>
        </p:nvSpPr>
        <p:spPr>
          <a:xfrm>
            <a:off x="930777" y="23353395"/>
            <a:ext cx="9601200" cy="16916400"/>
          </a:xfrm>
          <a:prstGeom prst="rect">
            <a:avLst/>
          </a:prstGeom>
          <a:solidFill>
            <a:schemeClr val="bg1"/>
          </a:solidFill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8AF760-C359-4592-BF1F-0C7A94DA9F89}"/>
              </a:ext>
            </a:extLst>
          </p:cNvPr>
          <p:cNvSpPr txBox="1"/>
          <p:nvPr/>
        </p:nvSpPr>
        <p:spPr>
          <a:xfrm>
            <a:off x="1288851" y="23558840"/>
            <a:ext cx="8869680" cy="6215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How did you find this?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Collected [what] from [population]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How you tested it.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Illustrate your methods if you can!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3038D2-6694-4FF1-AFD6-35D55E87C41A}"/>
              </a:ext>
            </a:extLst>
          </p:cNvPr>
          <p:cNvSpPr/>
          <p:nvPr/>
        </p:nvSpPr>
        <p:spPr>
          <a:xfrm>
            <a:off x="12024360" y="7109297"/>
            <a:ext cx="8869680" cy="541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Graph/table with 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essential results only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All the other correlations can be placed on the other side of the poster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812B75-2F39-4F27-84D4-C23E776A09BA}"/>
              </a:ext>
            </a:extLst>
          </p:cNvPr>
          <p:cNvSpPr/>
          <p:nvPr/>
        </p:nvSpPr>
        <p:spPr>
          <a:xfrm>
            <a:off x="22368039" y="24724995"/>
            <a:ext cx="9601200" cy="15544800"/>
          </a:xfrm>
          <a:prstGeom prst="rect">
            <a:avLst/>
          </a:prstGeom>
          <a:solidFill>
            <a:schemeClr val="bg1"/>
          </a:solidFill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3038D2-6694-4FF1-AFD6-35D55E87C41A}"/>
              </a:ext>
            </a:extLst>
          </p:cNvPr>
          <p:cNvSpPr/>
          <p:nvPr/>
        </p:nvSpPr>
        <p:spPr>
          <a:xfrm>
            <a:off x="22733799" y="7109297"/>
            <a:ext cx="8869680" cy="629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“If this result actually generalized and I didn’t have to humbly disclaim the possibility of a thousand confounds and limitations, it would imply that….”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8AF760-C359-4592-BF1F-0C7A94DA9F89}"/>
              </a:ext>
            </a:extLst>
          </p:cNvPr>
          <p:cNvSpPr txBox="1"/>
          <p:nvPr/>
        </p:nvSpPr>
        <p:spPr>
          <a:xfrm>
            <a:off x="22733799" y="24930440"/>
            <a:ext cx="8869680" cy="629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Additional Information</a:t>
            </a:r>
          </a:p>
          <a:p>
            <a:pPr marL="742950" indent="-742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</a:p>
          <a:p>
            <a:pPr marL="742950" indent="-742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Acknowledgements</a:t>
            </a:r>
          </a:p>
          <a:p>
            <a:pPr marL="742950" indent="-742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Literature Cited</a:t>
            </a:r>
          </a:p>
          <a:p>
            <a:pPr marL="742950" indent="-742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Further Information</a:t>
            </a:r>
          </a:p>
          <a:p>
            <a:pPr marL="742950" indent="-742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(can break up into separate boxes)</a:t>
            </a:r>
          </a:p>
        </p:txBody>
      </p:sp>
      <p:pic>
        <p:nvPicPr>
          <p:cNvPr id="31" name="Picture 30" descr="USouthFlorida-lightbg-2c-cmyk-h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5794" y="41363433"/>
            <a:ext cx="9446812" cy="1603307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57200" y="42380200"/>
            <a:ext cx="10515600" cy="91440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21945600" y="42380200"/>
            <a:ext cx="10515600" cy="91440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465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6B3EEA-ED06-4711-B10A-9B3D133CDB33}"/>
              </a:ext>
            </a:extLst>
          </p:cNvPr>
          <p:cNvSpPr/>
          <p:nvPr/>
        </p:nvSpPr>
        <p:spPr>
          <a:xfrm>
            <a:off x="457200" y="457200"/>
            <a:ext cx="32004000" cy="5486400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812B75-2F39-4F27-84D4-C23E776A09BA}"/>
              </a:ext>
            </a:extLst>
          </p:cNvPr>
          <p:cNvSpPr/>
          <p:nvPr/>
        </p:nvSpPr>
        <p:spPr>
          <a:xfrm>
            <a:off x="930777" y="6890018"/>
            <a:ext cx="8229600" cy="15544800"/>
          </a:xfrm>
          <a:prstGeom prst="rect">
            <a:avLst/>
          </a:prstGeom>
          <a:noFill/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A919B3-66A0-4766-88A7-F322ADCE46D8}"/>
              </a:ext>
            </a:extLst>
          </p:cNvPr>
          <p:cNvSpPr/>
          <p:nvPr/>
        </p:nvSpPr>
        <p:spPr>
          <a:xfrm>
            <a:off x="23777739" y="6890018"/>
            <a:ext cx="8229600" cy="15544800"/>
          </a:xfrm>
          <a:prstGeom prst="rect">
            <a:avLst/>
          </a:prstGeom>
          <a:noFill/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A36EF1-1E1F-4D1A-8E1D-89135C385498}"/>
              </a:ext>
            </a:extLst>
          </p:cNvPr>
          <p:cNvSpPr txBox="1"/>
          <p:nvPr/>
        </p:nvSpPr>
        <p:spPr>
          <a:xfrm>
            <a:off x="2743200" y="1207509"/>
            <a:ext cx="2743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en-US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25375D-9D6D-479F-9390-2846100F79C4}"/>
              </a:ext>
            </a:extLst>
          </p:cNvPr>
          <p:cNvSpPr txBox="1"/>
          <p:nvPr/>
        </p:nvSpPr>
        <p:spPr>
          <a:xfrm>
            <a:off x="2743200" y="3234981"/>
            <a:ext cx="2743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Author(s)</a:t>
            </a:r>
            <a:endParaRPr lang="en-US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511F6A-78B0-4BD0-857B-2DEA5635AB5E}"/>
              </a:ext>
            </a:extLst>
          </p:cNvPr>
          <p:cNvSpPr txBox="1"/>
          <p:nvPr/>
        </p:nvSpPr>
        <p:spPr>
          <a:xfrm>
            <a:off x="2743200" y="4708455"/>
            <a:ext cx="2743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Affiliation – Department, College, University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8AF760-C359-4592-BF1F-0C7A94DA9F89}"/>
              </a:ext>
            </a:extLst>
          </p:cNvPr>
          <p:cNvSpPr txBox="1"/>
          <p:nvPr/>
        </p:nvSpPr>
        <p:spPr>
          <a:xfrm>
            <a:off x="1304224" y="7109297"/>
            <a:ext cx="7863840" cy="541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Explain why your study matters </a:t>
            </a:r>
          </a:p>
          <a:p>
            <a:pPr>
              <a:lnSpc>
                <a:spcPct val="120000"/>
              </a:lnSpc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	(feel free to add graphics)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Give context for the gap you’re filling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8AF760-C359-4592-BF1F-0C7A94DA9F89}"/>
              </a:ext>
            </a:extLst>
          </p:cNvPr>
          <p:cNvSpPr txBox="1"/>
          <p:nvPr/>
        </p:nvSpPr>
        <p:spPr>
          <a:xfrm>
            <a:off x="1288851" y="23513120"/>
            <a:ext cx="7863840" cy="6215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How did you find this?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Collected [what] from [population]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How you tested it.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Illustrate your methods if you can!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0287000" y="6890018"/>
            <a:ext cx="12344400" cy="32004000"/>
            <a:chOff x="11647236" y="6890018"/>
            <a:chExt cx="12344400" cy="32004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4F72644-669E-4B84-8000-30F50C4CECA4}"/>
                </a:ext>
              </a:extLst>
            </p:cNvPr>
            <p:cNvSpPr/>
            <p:nvPr/>
          </p:nvSpPr>
          <p:spPr>
            <a:xfrm>
              <a:off x="11647236" y="6890018"/>
              <a:ext cx="12344400" cy="32004000"/>
            </a:xfrm>
            <a:prstGeom prst="rect">
              <a:avLst/>
            </a:prstGeom>
            <a:noFill/>
            <a:ln w="25400">
              <a:solidFill>
                <a:srgbClr val="00674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43038D2-6694-4FF1-AFD6-35D55E87C41A}"/>
                </a:ext>
              </a:extLst>
            </p:cNvPr>
            <p:cNvSpPr/>
            <p:nvPr/>
          </p:nvSpPr>
          <p:spPr>
            <a:xfrm>
              <a:off x="12024360" y="7109297"/>
              <a:ext cx="8869680" cy="5410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4800" b="1" dirty="0">
                  <a:latin typeface="Arial" panose="020B0604020202020204" pitchFamily="34" charset="0"/>
                  <a:cs typeface="Arial" panose="020B0604020202020204" pitchFamily="34" charset="0"/>
                </a:rPr>
                <a:t>Results</a:t>
              </a:r>
            </a:p>
            <a:p>
              <a:pPr marL="571500" indent="-5715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Graph/table with </a:t>
              </a:r>
              <a:r>
                <a:rPr lang="en-US" sz="4800" b="1" dirty="0">
                  <a:latin typeface="Arial" panose="020B0604020202020204" pitchFamily="34" charset="0"/>
                  <a:cs typeface="Arial" panose="020B0604020202020204" pitchFamily="34" charset="0"/>
                </a:rPr>
                <a:t>essential results only</a:t>
              </a: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marL="571500" indent="-5715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All the other correlations can be placed on the other side of the poster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643038D2-6694-4FF1-AFD6-35D55E87C41A}"/>
              </a:ext>
            </a:extLst>
          </p:cNvPr>
          <p:cNvSpPr/>
          <p:nvPr/>
        </p:nvSpPr>
        <p:spPr>
          <a:xfrm>
            <a:off x="24143499" y="7109297"/>
            <a:ext cx="7863840" cy="629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“If this result actually generalized and I didn’t have to humbly disclaim the possibility of a thousand confounds and limitations, it would imply that….”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8812B75-2F39-4F27-84D4-C23E776A09BA}"/>
              </a:ext>
            </a:extLst>
          </p:cNvPr>
          <p:cNvSpPr/>
          <p:nvPr/>
        </p:nvSpPr>
        <p:spPr>
          <a:xfrm>
            <a:off x="930777" y="23307675"/>
            <a:ext cx="8229600" cy="15544800"/>
          </a:xfrm>
          <a:prstGeom prst="rect">
            <a:avLst/>
          </a:prstGeom>
          <a:noFill/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8AF760-C359-4592-BF1F-0C7A94DA9F89}"/>
              </a:ext>
            </a:extLst>
          </p:cNvPr>
          <p:cNvSpPr txBox="1"/>
          <p:nvPr/>
        </p:nvSpPr>
        <p:spPr>
          <a:xfrm>
            <a:off x="24143499" y="23513120"/>
            <a:ext cx="7863840" cy="629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Additional Information</a:t>
            </a:r>
          </a:p>
          <a:p>
            <a:pPr marL="742950" indent="-742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</a:p>
          <a:p>
            <a:pPr marL="742950" indent="-742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Acknowledgements</a:t>
            </a:r>
          </a:p>
          <a:p>
            <a:pPr marL="742950" indent="-742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Literature Cited</a:t>
            </a:r>
          </a:p>
          <a:p>
            <a:pPr marL="742950" indent="-742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Further Information</a:t>
            </a:r>
          </a:p>
          <a:p>
            <a:pPr marL="742950" indent="-742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(can break up into separate boxes)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812B75-2F39-4F27-84D4-C23E776A09BA}"/>
              </a:ext>
            </a:extLst>
          </p:cNvPr>
          <p:cNvSpPr/>
          <p:nvPr/>
        </p:nvSpPr>
        <p:spPr>
          <a:xfrm>
            <a:off x="23777739" y="23307675"/>
            <a:ext cx="8229600" cy="15544800"/>
          </a:xfrm>
          <a:prstGeom prst="rect">
            <a:avLst/>
          </a:prstGeom>
          <a:noFill/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USouthFlorida-lightbg-2c-cmyk-h.png">
            <a:extLst>
              <a:ext uri="{FF2B5EF4-FFF2-40B4-BE49-F238E27FC236}">
                <a16:creationId xmlns:a16="http://schemas.microsoft.com/office/drawing/2014/main" id="{0A71C27C-6653-F6E9-277B-6B9ACAF0E4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5794" y="40473339"/>
            <a:ext cx="9446812" cy="16033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00FA8D-BBA0-7225-03F8-D5C8C24DD7DF}"/>
              </a:ext>
            </a:extLst>
          </p:cNvPr>
          <p:cNvSpPr/>
          <p:nvPr/>
        </p:nvSpPr>
        <p:spPr>
          <a:xfrm>
            <a:off x="457200" y="41490106"/>
            <a:ext cx="10515600" cy="91440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17FD4D-7CA7-5C06-E9E2-ACB2485A1D52}"/>
              </a:ext>
            </a:extLst>
          </p:cNvPr>
          <p:cNvSpPr/>
          <p:nvPr/>
        </p:nvSpPr>
        <p:spPr>
          <a:xfrm>
            <a:off x="21945600" y="41490106"/>
            <a:ext cx="10515600" cy="91440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34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0000">
              <a:schemeClr val="bg1"/>
            </a:gs>
            <a:gs pos="100000">
              <a:srgbClr val="EDEBD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2A36EF1-1E1F-4D1A-8E1D-89135C385498}"/>
              </a:ext>
            </a:extLst>
          </p:cNvPr>
          <p:cNvSpPr txBox="1"/>
          <p:nvPr/>
        </p:nvSpPr>
        <p:spPr>
          <a:xfrm>
            <a:off x="2743200" y="1207509"/>
            <a:ext cx="2743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0067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en-US" sz="9600" dirty="0">
              <a:solidFill>
                <a:srgbClr val="00674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25375D-9D6D-479F-9390-2846100F79C4}"/>
              </a:ext>
            </a:extLst>
          </p:cNvPr>
          <p:cNvSpPr txBox="1"/>
          <p:nvPr/>
        </p:nvSpPr>
        <p:spPr>
          <a:xfrm>
            <a:off x="2743200" y="3234981"/>
            <a:ext cx="2743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Author(s)</a:t>
            </a:r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511F6A-78B0-4BD0-857B-2DEA5635AB5E}"/>
              </a:ext>
            </a:extLst>
          </p:cNvPr>
          <p:cNvSpPr txBox="1"/>
          <p:nvPr/>
        </p:nvSpPr>
        <p:spPr>
          <a:xfrm>
            <a:off x="2743200" y="4708455"/>
            <a:ext cx="2743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67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Affiliation – Department, College, University</a:t>
            </a:r>
            <a:endParaRPr lang="en-US" sz="4000" dirty="0">
              <a:solidFill>
                <a:srgbClr val="00674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812B75-2F39-4F27-84D4-C23E776A09BA}"/>
              </a:ext>
            </a:extLst>
          </p:cNvPr>
          <p:cNvSpPr/>
          <p:nvPr/>
        </p:nvSpPr>
        <p:spPr>
          <a:xfrm>
            <a:off x="930777" y="6890018"/>
            <a:ext cx="8229600" cy="15544800"/>
          </a:xfrm>
          <a:prstGeom prst="rect">
            <a:avLst/>
          </a:prstGeom>
          <a:solidFill>
            <a:schemeClr val="bg1"/>
          </a:solidFill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0A919B3-66A0-4766-88A7-F322ADCE46D8}"/>
              </a:ext>
            </a:extLst>
          </p:cNvPr>
          <p:cNvSpPr/>
          <p:nvPr/>
        </p:nvSpPr>
        <p:spPr>
          <a:xfrm>
            <a:off x="23777739" y="6890018"/>
            <a:ext cx="8229600" cy="16916400"/>
          </a:xfrm>
          <a:prstGeom prst="rect">
            <a:avLst/>
          </a:prstGeom>
          <a:solidFill>
            <a:schemeClr val="bg1"/>
          </a:solidFill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outhFlorida-lightbg-2c-cmyk-h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5794" y="41363433"/>
            <a:ext cx="9446812" cy="1603307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57200" y="42380200"/>
            <a:ext cx="10515600" cy="91440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21945600" y="42380200"/>
            <a:ext cx="10515600" cy="91440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8AF760-C359-4592-BF1F-0C7A94DA9F89}"/>
              </a:ext>
            </a:extLst>
          </p:cNvPr>
          <p:cNvSpPr txBox="1"/>
          <p:nvPr/>
        </p:nvSpPr>
        <p:spPr>
          <a:xfrm>
            <a:off x="1304224" y="7109297"/>
            <a:ext cx="7863840" cy="541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Explain why your study matters </a:t>
            </a:r>
          </a:p>
          <a:p>
            <a:pPr>
              <a:lnSpc>
                <a:spcPct val="120000"/>
              </a:lnSpc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	(feel free to add graphics)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Give context for the gap you’re filling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8812B75-2F39-4F27-84D4-C23E776A09BA}"/>
              </a:ext>
            </a:extLst>
          </p:cNvPr>
          <p:cNvSpPr/>
          <p:nvPr/>
        </p:nvSpPr>
        <p:spPr>
          <a:xfrm>
            <a:off x="930777" y="23353395"/>
            <a:ext cx="8229600" cy="16916400"/>
          </a:xfrm>
          <a:prstGeom prst="rect">
            <a:avLst/>
          </a:prstGeom>
          <a:solidFill>
            <a:schemeClr val="bg1"/>
          </a:solidFill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8AF760-C359-4592-BF1F-0C7A94DA9F89}"/>
              </a:ext>
            </a:extLst>
          </p:cNvPr>
          <p:cNvSpPr txBox="1"/>
          <p:nvPr/>
        </p:nvSpPr>
        <p:spPr>
          <a:xfrm>
            <a:off x="1288851" y="23558840"/>
            <a:ext cx="7863840" cy="6215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How did you find this?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Collected [what] from [population]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How you tested it.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Illustrate your methods if you can!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8812B75-2F39-4F27-84D4-C23E776A09BA}"/>
              </a:ext>
            </a:extLst>
          </p:cNvPr>
          <p:cNvSpPr/>
          <p:nvPr/>
        </p:nvSpPr>
        <p:spPr>
          <a:xfrm>
            <a:off x="23777739" y="24724995"/>
            <a:ext cx="8229600" cy="15544800"/>
          </a:xfrm>
          <a:prstGeom prst="rect">
            <a:avLst/>
          </a:prstGeom>
          <a:solidFill>
            <a:schemeClr val="bg1"/>
          </a:solidFill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/>
          <p:cNvGrpSpPr/>
          <p:nvPr/>
        </p:nvGrpSpPr>
        <p:grpSpPr>
          <a:xfrm>
            <a:off x="10287000" y="6890018"/>
            <a:ext cx="12344400" cy="33375600"/>
            <a:chOff x="11647236" y="6890018"/>
            <a:chExt cx="12344400" cy="333756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4F72644-669E-4B84-8000-30F50C4CECA4}"/>
                </a:ext>
              </a:extLst>
            </p:cNvPr>
            <p:cNvSpPr/>
            <p:nvPr/>
          </p:nvSpPr>
          <p:spPr>
            <a:xfrm>
              <a:off x="11647236" y="6890018"/>
              <a:ext cx="12344400" cy="33375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674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43038D2-6694-4FF1-AFD6-35D55E87C41A}"/>
                </a:ext>
              </a:extLst>
            </p:cNvPr>
            <p:cNvSpPr/>
            <p:nvPr/>
          </p:nvSpPr>
          <p:spPr>
            <a:xfrm>
              <a:off x="12024360" y="7109297"/>
              <a:ext cx="8869680" cy="5410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4800" b="1" dirty="0">
                  <a:latin typeface="Arial" panose="020B0604020202020204" pitchFamily="34" charset="0"/>
                  <a:cs typeface="Arial" panose="020B0604020202020204" pitchFamily="34" charset="0"/>
                </a:rPr>
                <a:t>Results</a:t>
              </a:r>
            </a:p>
            <a:p>
              <a:pPr marL="571500" indent="-5715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Graph/table with </a:t>
              </a:r>
              <a:r>
                <a:rPr lang="en-US" sz="4800" b="1" dirty="0">
                  <a:latin typeface="Arial" panose="020B0604020202020204" pitchFamily="34" charset="0"/>
                  <a:cs typeface="Arial" panose="020B0604020202020204" pitchFamily="34" charset="0"/>
                </a:rPr>
                <a:t>essential results only</a:t>
              </a: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marL="571500" indent="-5715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All the other correlations can be placed on the other side of the poster</a:t>
              </a: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643038D2-6694-4FF1-AFD6-35D55E87C41A}"/>
              </a:ext>
            </a:extLst>
          </p:cNvPr>
          <p:cNvSpPr/>
          <p:nvPr/>
        </p:nvSpPr>
        <p:spPr>
          <a:xfrm>
            <a:off x="24143499" y="7109297"/>
            <a:ext cx="7863840" cy="629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“If this result actually generalized and I didn’t have to humbly disclaim the possibility of a thousand confounds and limitations, it would imply that….”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8AF760-C359-4592-BF1F-0C7A94DA9F89}"/>
              </a:ext>
            </a:extLst>
          </p:cNvPr>
          <p:cNvSpPr txBox="1"/>
          <p:nvPr/>
        </p:nvSpPr>
        <p:spPr>
          <a:xfrm>
            <a:off x="24143499" y="24930440"/>
            <a:ext cx="7863840" cy="629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Additional Information</a:t>
            </a:r>
          </a:p>
          <a:p>
            <a:pPr marL="742950" indent="-742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</a:p>
          <a:p>
            <a:pPr marL="742950" indent="-742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Acknowledgements</a:t>
            </a:r>
          </a:p>
          <a:p>
            <a:pPr marL="742950" indent="-742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Literature Cited</a:t>
            </a:r>
          </a:p>
          <a:p>
            <a:pPr marL="742950" indent="-742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Further Information</a:t>
            </a:r>
          </a:p>
          <a:p>
            <a:pPr marL="742950" indent="-742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(can break up into separate boxes)</a:t>
            </a:r>
          </a:p>
        </p:txBody>
      </p:sp>
    </p:spTree>
    <p:extLst>
      <p:ext uri="{BB962C8B-B14F-4D97-AF65-F5344CB8AC3E}">
        <p14:creationId xmlns:p14="http://schemas.microsoft.com/office/powerpoint/2010/main" val="1978104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6B3EEA-ED06-4711-B10A-9B3D133CDB33}"/>
              </a:ext>
            </a:extLst>
          </p:cNvPr>
          <p:cNvSpPr/>
          <p:nvPr/>
        </p:nvSpPr>
        <p:spPr>
          <a:xfrm>
            <a:off x="457200" y="457200"/>
            <a:ext cx="32004000" cy="5486400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ADE31EA-FDCA-4FA4-BDAD-BACD08B23014}"/>
              </a:ext>
            </a:extLst>
          </p:cNvPr>
          <p:cNvGrpSpPr/>
          <p:nvPr/>
        </p:nvGrpSpPr>
        <p:grpSpPr>
          <a:xfrm>
            <a:off x="457200" y="39776400"/>
            <a:ext cx="32004000" cy="3657600"/>
            <a:chOff x="457200" y="39776400"/>
            <a:chExt cx="32004000" cy="36576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2C5D85E-3601-4D31-AF0D-49759B74874B}"/>
                </a:ext>
              </a:extLst>
            </p:cNvPr>
            <p:cNvSpPr/>
            <p:nvPr/>
          </p:nvSpPr>
          <p:spPr>
            <a:xfrm>
              <a:off x="457200" y="39776400"/>
              <a:ext cx="32004000" cy="3657600"/>
            </a:xfrm>
            <a:prstGeom prst="rect">
              <a:avLst/>
            </a:prstGeom>
            <a:solidFill>
              <a:srgbClr val="0067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 descr="USouthFlorida-darkbg-1c-white-h.png">
              <a:extLst>
                <a:ext uri="{FF2B5EF4-FFF2-40B4-BE49-F238E27FC236}">
                  <a16:creationId xmlns:a16="http://schemas.microsoft.com/office/drawing/2014/main" id="{60EBD9A8-02D4-4D9F-AF2C-5278D5E02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44326" y="40805100"/>
              <a:ext cx="9429749" cy="1600200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8812B75-2F39-4F27-84D4-C23E776A09BA}"/>
              </a:ext>
            </a:extLst>
          </p:cNvPr>
          <p:cNvSpPr/>
          <p:nvPr/>
        </p:nvSpPr>
        <p:spPr>
          <a:xfrm>
            <a:off x="930777" y="6890018"/>
            <a:ext cx="9601200" cy="15544800"/>
          </a:xfrm>
          <a:prstGeom prst="rect">
            <a:avLst/>
          </a:prstGeom>
          <a:noFill/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F72644-669E-4B84-8000-30F50C4CECA4}"/>
              </a:ext>
            </a:extLst>
          </p:cNvPr>
          <p:cNvSpPr/>
          <p:nvPr/>
        </p:nvSpPr>
        <p:spPr>
          <a:xfrm>
            <a:off x="11617825" y="6890018"/>
            <a:ext cx="20391120" cy="18288000"/>
          </a:xfrm>
          <a:prstGeom prst="rect">
            <a:avLst/>
          </a:prstGeom>
          <a:noFill/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A36EF1-1E1F-4D1A-8E1D-89135C385498}"/>
              </a:ext>
            </a:extLst>
          </p:cNvPr>
          <p:cNvSpPr txBox="1"/>
          <p:nvPr/>
        </p:nvSpPr>
        <p:spPr>
          <a:xfrm>
            <a:off x="2743200" y="1207509"/>
            <a:ext cx="2743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en-US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25375D-9D6D-479F-9390-2846100F79C4}"/>
              </a:ext>
            </a:extLst>
          </p:cNvPr>
          <p:cNvSpPr txBox="1"/>
          <p:nvPr/>
        </p:nvSpPr>
        <p:spPr>
          <a:xfrm>
            <a:off x="2743200" y="3234981"/>
            <a:ext cx="2743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Author(s)</a:t>
            </a:r>
            <a:endParaRPr lang="en-US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511F6A-78B0-4BD0-857B-2DEA5635AB5E}"/>
              </a:ext>
            </a:extLst>
          </p:cNvPr>
          <p:cNvSpPr txBox="1"/>
          <p:nvPr/>
        </p:nvSpPr>
        <p:spPr>
          <a:xfrm>
            <a:off x="2743200" y="4708455"/>
            <a:ext cx="2743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Affiliation – Department, College, University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8AF760-C359-4592-BF1F-0C7A94DA9F89}"/>
              </a:ext>
            </a:extLst>
          </p:cNvPr>
          <p:cNvSpPr txBox="1"/>
          <p:nvPr/>
        </p:nvSpPr>
        <p:spPr>
          <a:xfrm>
            <a:off x="1304224" y="7109297"/>
            <a:ext cx="8869680" cy="541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Explain why your study matters </a:t>
            </a:r>
          </a:p>
          <a:p>
            <a:pPr>
              <a:lnSpc>
                <a:spcPct val="120000"/>
              </a:lnSpc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	(feel free to add graphics)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Give context for the gap you’re filling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8AF760-C359-4592-BF1F-0C7A94DA9F89}"/>
              </a:ext>
            </a:extLst>
          </p:cNvPr>
          <p:cNvSpPr txBox="1"/>
          <p:nvPr/>
        </p:nvSpPr>
        <p:spPr>
          <a:xfrm>
            <a:off x="1288851" y="23513120"/>
            <a:ext cx="8869680" cy="6215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How did you find this?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Collected [what] from [population]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How you tested it.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Illustrate your methods if you can!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3038D2-6694-4FF1-AFD6-35D55E87C41A}"/>
              </a:ext>
            </a:extLst>
          </p:cNvPr>
          <p:cNvSpPr/>
          <p:nvPr/>
        </p:nvSpPr>
        <p:spPr>
          <a:xfrm>
            <a:off x="12024359" y="7109297"/>
            <a:ext cx="18535717" cy="3637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Graph/table with 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essential results only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All the other correlations can be placed on the other side of the poster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1617825" y="26079852"/>
            <a:ext cx="20386173" cy="6400800"/>
            <a:chOff x="11617825" y="23307675"/>
            <a:chExt cx="20386173" cy="64008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0A919B3-66A0-4766-88A7-F322ADCE46D8}"/>
                </a:ext>
              </a:extLst>
            </p:cNvPr>
            <p:cNvSpPr/>
            <p:nvPr/>
          </p:nvSpPr>
          <p:spPr>
            <a:xfrm>
              <a:off x="11617825" y="23307675"/>
              <a:ext cx="20386173" cy="6400800"/>
            </a:xfrm>
            <a:prstGeom prst="rect">
              <a:avLst/>
            </a:prstGeom>
            <a:noFill/>
            <a:ln w="25400">
              <a:solidFill>
                <a:srgbClr val="00674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43038D2-6694-4FF1-AFD6-35D55E87C41A}"/>
                </a:ext>
              </a:extLst>
            </p:cNvPr>
            <p:cNvSpPr/>
            <p:nvPr/>
          </p:nvSpPr>
          <p:spPr>
            <a:xfrm>
              <a:off x="11983584" y="23526954"/>
              <a:ext cx="19563213" cy="36379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4800" b="1" dirty="0">
                  <a:latin typeface="Arial" panose="020B0604020202020204" pitchFamily="34" charset="0"/>
                  <a:cs typeface="Arial" panose="020B0604020202020204" pitchFamily="34" charset="0"/>
                </a:rPr>
                <a:t>Discussion</a:t>
              </a:r>
            </a:p>
            <a:p>
              <a:pPr marL="457200" indent="-4572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“If this result actually generalized and I didn’t have to humbly disclaim the possibility of a thousand confounds and limitations, it would imply that….”</a:t>
              </a:r>
              <a:endParaRPr lang="en-US" sz="4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8812B75-2F39-4F27-84D4-C23E776A09BA}"/>
              </a:ext>
            </a:extLst>
          </p:cNvPr>
          <p:cNvSpPr/>
          <p:nvPr/>
        </p:nvSpPr>
        <p:spPr>
          <a:xfrm>
            <a:off x="930777" y="23307675"/>
            <a:ext cx="9601200" cy="15544800"/>
          </a:xfrm>
          <a:prstGeom prst="rect">
            <a:avLst/>
          </a:prstGeom>
          <a:noFill/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617825" y="33382084"/>
            <a:ext cx="9601200" cy="5486400"/>
            <a:chOff x="11617825" y="31553284"/>
            <a:chExt cx="9601200" cy="548640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98AF760-C359-4592-BF1F-0C7A94DA9F89}"/>
                </a:ext>
              </a:extLst>
            </p:cNvPr>
            <p:cNvSpPr txBox="1"/>
            <p:nvPr/>
          </p:nvSpPr>
          <p:spPr>
            <a:xfrm>
              <a:off x="11983585" y="31758729"/>
              <a:ext cx="8869680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4800" b="1" dirty="0">
                  <a:latin typeface="Arial" panose="020B0604020202020204" pitchFamily="34" charset="0"/>
                  <a:cs typeface="Arial" panose="020B0604020202020204" pitchFamily="34" charset="0"/>
                </a:rPr>
                <a:t>Additional Information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Future Work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Acknowledgements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Literature Cited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Further Information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8812B75-2F39-4F27-84D4-C23E776A09BA}"/>
                </a:ext>
              </a:extLst>
            </p:cNvPr>
            <p:cNvSpPr/>
            <p:nvPr/>
          </p:nvSpPr>
          <p:spPr>
            <a:xfrm>
              <a:off x="11617825" y="31553284"/>
              <a:ext cx="9601200" cy="5486400"/>
            </a:xfrm>
            <a:prstGeom prst="rect">
              <a:avLst/>
            </a:prstGeom>
            <a:noFill/>
            <a:ln w="25400">
              <a:solidFill>
                <a:srgbClr val="00674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2402798" y="33382084"/>
            <a:ext cx="9601200" cy="5486400"/>
            <a:chOff x="22402798" y="31553284"/>
            <a:chExt cx="9601200" cy="548640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98AF760-C359-4592-BF1F-0C7A94DA9F89}"/>
                </a:ext>
              </a:extLst>
            </p:cNvPr>
            <p:cNvSpPr txBox="1"/>
            <p:nvPr/>
          </p:nvSpPr>
          <p:spPr>
            <a:xfrm>
              <a:off x="22768558" y="31758729"/>
              <a:ext cx="8869680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4800" b="1" dirty="0">
                  <a:latin typeface="Arial" panose="020B0604020202020204" pitchFamily="34" charset="0"/>
                  <a:cs typeface="Arial" panose="020B0604020202020204" pitchFamily="34" charset="0"/>
                </a:rPr>
                <a:t>Additional Information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Future Work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Acknowledgements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Literature Cited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Further Information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8812B75-2F39-4F27-84D4-C23E776A09BA}"/>
                </a:ext>
              </a:extLst>
            </p:cNvPr>
            <p:cNvSpPr/>
            <p:nvPr/>
          </p:nvSpPr>
          <p:spPr>
            <a:xfrm>
              <a:off x="22402798" y="31553284"/>
              <a:ext cx="9601200" cy="5486400"/>
            </a:xfrm>
            <a:prstGeom prst="rect">
              <a:avLst/>
            </a:prstGeom>
            <a:noFill/>
            <a:ln w="25400">
              <a:solidFill>
                <a:srgbClr val="00674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4554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0">
              <a:schemeClr val="bg1"/>
            </a:gs>
            <a:gs pos="100000">
              <a:srgbClr val="EDEBD1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2A36EF1-1E1F-4D1A-8E1D-89135C385498}"/>
              </a:ext>
            </a:extLst>
          </p:cNvPr>
          <p:cNvSpPr txBox="1"/>
          <p:nvPr/>
        </p:nvSpPr>
        <p:spPr>
          <a:xfrm>
            <a:off x="2743200" y="1207509"/>
            <a:ext cx="2743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0067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en-US" sz="9600" dirty="0">
              <a:solidFill>
                <a:srgbClr val="00674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25375D-9D6D-479F-9390-2846100F79C4}"/>
              </a:ext>
            </a:extLst>
          </p:cNvPr>
          <p:cNvSpPr txBox="1"/>
          <p:nvPr/>
        </p:nvSpPr>
        <p:spPr>
          <a:xfrm>
            <a:off x="2743200" y="3234981"/>
            <a:ext cx="2743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Author(s)</a:t>
            </a:r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511F6A-78B0-4BD0-857B-2DEA5635AB5E}"/>
              </a:ext>
            </a:extLst>
          </p:cNvPr>
          <p:cNvSpPr txBox="1"/>
          <p:nvPr/>
        </p:nvSpPr>
        <p:spPr>
          <a:xfrm>
            <a:off x="2743200" y="4708455"/>
            <a:ext cx="2743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67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Affiliation – Department, College, University</a:t>
            </a:r>
            <a:endParaRPr lang="en-US" sz="4000" dirty="0">
              <a:solidFill>
                <a:srgbClr val="00674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Picture 30" descr="USouthFlorida-lightbg-2c-cmyk-h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5794" y="41363433"/>
            <a:ext cx="9446812" cy="1603307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8812B75-2F39-4F27-84D4-C23E776A09BA}"/>
              </a:ext>
            </a:extLst>
          </p:cNvPr>
          <p:cNvSpPr/>
          <p:nvPr/>
        </p:nvSpPr>
        <p:spPr>
          <a:xfrm>
            <a:off x="930777" y="6890018"/>
            <a:ext cx="9601200" cy="16230600"/>
          </a:xfrm>
          <a:prstGeom prst="rect">
            <a:avLst/>
          </a:prstGeom>
          <a:solidFill>
            <a:schemeClr val="bg1"/>
          </a:solidFill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F72644-669E-4B84-8000-30F50C4CECA4}"/>
              </a:ext>
            </a:extLst>
          </p:cNvPr>
          <p:cNvSpPr/>
          <p:nvPr/>
        </p:nvSpPr>
        <p:spPr>
          <a:xfrm>
            <a:off x="11617825" y="6890018"/>
            <a:ext cx="20391120" cy="18745200"/>
          </a:xfrm>
          <a:prstGeom prst="rect">
            <a:avLst/>
          </a:prstGeom>
          <a:solidFill>
            <a:schemeClr val="bg1"/>
          </a:solidFill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457200" y="42380200"/>
            <a:ext cx="10515600" cy="91440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21945600" y="42380200"/>
            <a:ext cx="10515600" cy="91440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8AF760-C359-4592-BF1F-0C7A94DA9F89}"/>
              </a:ext>
            </a:extLst>
          </p:cNvPr>
          <p:cNvSpPr txBox="1"/>
          <p:nvPr/>
        </p:nvSpPr>
        <p:spPr>
          <a:xfrm>
            <a:off x="1304224" y="7109297"/>
            <a:ext cx="8869680" cy="541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Explain why your study matters </a:t>
            </a:r>
          </a:p>
          <a:p>
            <a:pPr>
              <a:lnSpc>
                <a:spcPct val="120000"/>
              </a:lnSpc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	(feel free to add graphics)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Give context for the gap you’re filling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8812B75-2F39-4F27-84D4-C23E776A09BA}"/>
              </a:ext>
            </a:extLst>
          </p:cNvPr>
          <p:cNvSpPr/>
          <p:nvPr/>
        </p:nvSpPr>
        <p:spPr>
          <a:xfrm>
            <a:off x="930777" y="24039195"/>
            <a:ext cx="9601200" cy="16230600"/>
          </a:xfrm>
          <a:prstGeom prst="rect">
            <a:avLst/>
          </a:prstGeom>
          <a:solidFill>
            <a:schemeClr val="bg1"/>
          </a:solidFill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8AF760-C359-4592-BF1F-0C7A94DA9F89}"/>
              </a:ext>
            </a:extLst>
          </p:cNvPr>
          <p:cNvSpPr txBox="1"/>
          <p:nvPr/>
        </p:nvSpPr>
        <p:spPr>
          <a:xfrm>
            <a:off x="1288851" y="24244640"/>
            <a:ext cx="8869680" cy="6215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How did you find this?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Collected [what] from [population]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How you tested it.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Illustrate your methods if you can!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11617825" y="26620926"/>
            <a:ext cx="20386173" cy="7315200"/>
            <a:chOff x="11617825" y="23307675"/>
            <a:chExt cx="20386173" cy="73152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0A919B3-66A0-4766-88A7-F322ADCE46D8}"/>
                </a:ext>
              </a:extLst>
            </p:cNvPr>
            <p:cNvSpPr/>
            <p:nvPr/>
          </p:nvSpPr>
          <p:spPr>
            <a:xfrm>
              <a:off x="11617825" y="23307675"/>
              <a:ext cx="20386173" cy="73152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674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43038D2-6694-4FF1-AFD6-35D55E87C41A}"/>
                </a:ext>
              </a:extLst>
            </p:cNvPr>
            <p:cNvSpPr/>
            <p:nvPr/>
          </p:nvSpPr>
          <p:spPr>
            <a:xfrm>
              <a:off x="11983584" y="23526954"/>
              <a:ext cx="19563213" cy="36379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4800" b="1" dirty="0">
                  <a:latin typeface="Arial" panose="020B0604020202020204" pitchFamily="34" charset="0"/>
                  <a:cs typeface="Arial" panose="020B0604020202020204" pitchFamily="34" charset="0"/>
                </a:rPr>
                <a:t>Discussion</a:t>
              </a:r>
            </a:p>
            <a:p>
              <a:pPr marL="457200" indent="-4572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“If this result actually generalized and I didn’t have to humbly disclaim the possibility of a thousand confounds and limitations, it would imply that….”</a:t>
              </a:r>
              <a:endParaRPr lang="en-US" sz="4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11617825" y="34799404"/>
            <a:ext cx="9601200" cy="5486400"/>
            <a:chOff x="11617825" y="31553284"/>
            <a:chExt cx="9601200" cy="548640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8812B75-2F39-4F27-84D4-C23E776A09BA}"/>
                </a:ext>
              </a:extLst>
            </p:cNvPr>
            <p:cNvSpPr/>
            <p:nvPr/>
          </p:nvSpPr>
          <p:spPr>
            <a:xfrm>
              <a:off x="11617825" y="31553284"/>
              <a:ext cx="9601200" cy="54864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674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98AF760-C359-4592-BF1F-0C7A94DA9F89}"/>
                </a:ext>
              </a:extLst>
            </p:cNvPr>
            <p:cNvSpPr txBox="1"/>
            <p:nvPr/>
          </p:nvSpPr>
          <p:spPr>
            <a:xfrm>
              <a:off x="11983585" y="31758729"/>
              <a:ext cx="8869680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4800" b="1" dirty="0">
                  <a:latin typeface="Arial" panose="020B0604020202020204" pitchFamily="34" charset="0"/>
                  <a:cs typeface="Arial" panose="020B0604020202020204" pitchFamily="34" charset="0"/>
                </a:rPr>
                <a:t>Additional Information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Future Work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Acknowledgements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Literature Cited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Further Information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22402798" y="34799404"/>
            <a:ext cx="9601200" cy="5486400"/>
            <a:chOff x="22402798" y="31553284"/>
            <a:chExt cx="9601200" cy="548640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8812B75-2F39-4F27-84D4-C23E776A09BA}"/>
                </a:ext>
              </a:extLst>
            </p:cNvPr>
            <p:cNvSpPr/>
            <p:nvPr/>
          </p:nvSpPr>
          <p:spPr>
            <a:xfrm>
              <a:off x="22402798" y="31553284"/>
              <a:ext cx="9601200" cy="54864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674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98AF760-C359-4592-BF1F-0C7A94DA9F89}"/>
                </a:ext>
              </a:extLst>
            </p:cNvPr>
            <p:cNvSpPr txBox="1"/>
            <p:nvPr/>
          </p:nvSpPr>
          <p:spPr>
            <a:xfrm>
              <a:off x="22768558" y="31758729"/>
              <a:ext cx="8869680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4800" b="1" dirty="0">
                  <a:latin typeface="Arial" panose="020B0604020202020204" pitchFamily="34" charset="0"/>
                  <a:cs typeface="Arial" panose="020B0604020202020204" pitchFamily="34" charset="0"/>
                </a:rPr>
                <a:t>Additional Information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Future Work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Acknowledgements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Literature Cited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Further Information</a:t>
              </a:r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643038D2-6694-4FF1-AFD6-35D55E87C41A}"/>
              </a:ext>
            </a:extLst>
          </p:cNvPr>
          <p:cNvSpPr/>
          <p:nvPr/>
        </p:nvSpPr>
        <p:spPr>
          <a:xfrm>
            <a:off x="12024359" y="7109297"/>
            <a:ext cx="18535717" cy="3637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Graph/table with 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essential results only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All the other correlations can be placed on the other side of the poster</a:t>
            </a:r>
          </a:p>
        </p:txBody>
      </p:sp>
    </p:spTree>
    <p:extLst>
      <p:ext uri="{BB962C8B-B14F-4D97-AF65-F5344CB8AC3E}">
        <p14:creationId xmlns:p14="http://schemas.microsoft.com/office/powerpoint/2010/main" val="3980648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6B3EEA-ED06-4711-B10A-9B3D133CDB33}"/>
              </a:ext>
            </a:extLst>
          </p:cNvPr>
          <p:cNvSpPr/>
          <p:nvPr/>
        </p:nvSpPr>
        <p:spPr>
          <a:xfrm>
            <a:off x="457200" y="457200"/>
            <a:ext cx="32004000" cy="5486400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ADE31EA-FDCA-4FA4-BDAD-BACD08B23014}"/>
              </a:ext>
            </a:extLst>
          </p:cNvPr>
          <p:cNvGrpSpPr/>
          <p:nvPr/>
        </p:nvGrpSpPr>
        <p:grpSpPr>
          <a:xfrm>
            <a:off x="457200" y="39776400"/>
            <a:ext cx="32004000" cy="3657600"/>
            <a:chOff x="457200" y="39776400"/>
            <a:chExt cx="32004000" cy="36576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2C5D85E-3601-4D31-AF0D-49759B74874B}"/>
                </a:ext>
              </a:extLst>
            </p:cNvPr>
            <p:cNvSpPr/>
            <p:nvPr/>
          </p:nvSpPr>
          <p:spPr>
            <a:xfrm>
              <a:off x="457200" y="39776400"/>
              <a:ext cx="32004000" cy="3657600"/>
            </a:xfrm>
            <a:prstGeom prst="rect">
              <a:avLst/>
            </a:prstGeom>
            <a:solidFill>
              <a:srgbClr val="0067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 descr="USouthFlorida-darkbg-1c-white-h.png">
              <a:extLst>
                <a:ext uri="{FF2B5EF4-FFF2-40B4-BE49-F238E27FC236}">
                  <a16:creationId xmlns:a16="http://schemas.microsoft.com/office/drawing/2014/main" id="{60EBD9A8-02D4-4D9F-AF2C-5278D5E02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44326" y="40805100"/>
              <a:ext cx="9429749" cy="1600200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8812B75-2F39-4F27-84D4-C23E776A09BA}"/>
              </a:ext>
            </a:extLst>
          </p:cNvPr>
          <p:cNvSpPr/>
          <p:nvPr/>
        </p:nvSpPr>
        <p:spPr>
          <a:xfrm>
            <a:off x="914402" y="6858000"/>
            <a:ext cx="15087600" cy="9144000"/>
          </a:xfrm>
          <a:prstGeom prst="rect">
            <a:avLst/>
          </a:prstGeom>
          <a:noFill/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A36EF1-1E1F-4D1A-8E1D-89135C385498}"/>
              </a:ext>
            </a:extLst>
          </p:cNvPr>
          <p:cNvSpPr txBox="1"/>
          <p:nvPr/>
        </p:nvSpPr>
        <p:spPr>
          <a:xfrm>
            <a:off x="2743200" y="1207509"/>
            <a:ext cx="2743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en-US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25375D-9D6D-479F-9390-2846100F79C4}"/>
              </a:ext>
            </a:extLst>
          </p:cNvPr>
          <p:cNvSpPr txBox="1"/>
          <p:nvPr/>
        </p:nvSpPr>
        <p:spPr>
          <a:xfrm>
            <a:off x="2743200" y="3234981"/>
            <a:ext cx="2743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Author(s)</a:t>
            </a:r>
            <a:endParaRPr lang="en-US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511F6A-78B0-4BD0-857B-2DEA5635AB5E}"/>
              </a:ext>
            </a:extLst>
          </p:cNvPr>
          <p:cNvSpPr txBox="1"/>
          <p:nvPr/>
        </p:nvSpPr>
        <p:spPr>
          <a:xfrm>
            <a:off x="2743200" y="4708455"/>
            <a:ext cx="2743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Affiliation – Department, College, University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8AF760-C359-4592-BF1F-0C7A94DA9F89}"/>
              </a:ext>
            </a:extLst>
          </p:cNvPr>
          <p:cNvSpPr txBox="1"/>
          <p:nvPr/>
        </p:nvSpPr>
        <p:spPr>
          <a:xfrm>
            <a:off x="1304224" y="7109297"/>
            <a:ext cx="8869680" cy="541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Explain why your study matters </a:t>
            </a:r>
          </a:p>
          <a:p>
            <a:pPr>
              <a:lnSpc>
                <a:spcPct val="120000"/>
              </a:lnSpc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	(feel free to add graphics)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Give context for the gap you’re filling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30777" y="17010662"/>
            <a:ext cx="31089600" cy="13716000"/>
            <a:chOff x="34337624" y="7385259"/>
            <a:chExt cx="31089600" cy="1816608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4F72644-669E-4B84-8000-30F50C4CECA4}"/>
                </a:ext>
              </a:extLst>
            </p:cNvPr>
            <p:cNvSpPr/>
            <p:nvPr/>
          </p:nvSpPr>
          <p:spPr>
            <a:xfrm>
              <a:off x="34337624" y="7385259"/>
              <a:ext cx="31089600" cy="18166080"/>
            </a:xfrm>
            <a:prstGeom prst="rect">
              <a:avLst/>
            </a:prstGeom>
            <a:noFill/>
            <a:ln w="25400">
              <a:solidFill>
                <a:srgbClr val="00674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43038D2-6694-4FF1-AFD6-35D55E87C41A}"/>
                </a:ext>
              </a:extLst>
            </p:cNvPr>
            <p:cNvSpPr/>
            <p:nvPr/>
          </p:nvSpPr>
          <p:spPr>
            <a:xfrm>
              <a:off x="34744158" y="7604538"/>
              <a:ext cx="18535717" cy="36379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4800" b="1" dirty="0">
                  <a:latin typeface="Arial" panose="020B0604020202020204" pitchFamily="34" charset="0"/>
                  <a:cs typeface="Arial" panose="020B0604020202020204" pitchFamily="34" charset="0"/>
                </a:rPr>
                <a:t>Results</a:t>
              </a:r>
            </a:p>
            <a:p>
              <a:pPr marL="571500" indent="-5715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Graph/table with </a:t>
              </a:r>
              <a:r>
                <a:rPr lang="en-US" sz="4800" b="1" dirty="0">
                  <a:latin typeface="Arial" panose="020B0604020202020204" pitchFamily="34" charset="0"/>
                  <a:cs typeface="Arial" panose="020B0604020202020204" pitchFamily="34" charset="0"/>
                </a:rPr>
                <a:t>essential results only</a:t>
              </a: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marL="571500" indent="-5715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All the other correlations can be placed on the other side of the poster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914402" y="31625053"/>
            <a:ext cx="15087600" cy="7315200"/>
            <a:chOff x="11617825" y="23307675"/>
            <a:chExt cx="20386173" cy="64008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0A919B3-66A0-4766-88A7-F322ADCE46D8}"/>
                </a:ext>
              </a:extLst>
            </p:cNvPr>
            <p:cNvSpPr/>
            <p:nvPr/>
          </p:nvSpPr>
          <p:spPr>
            <a:xfrm>
              <a:off x="11617825" y="23307675"/>
              <a:ext cx="20386173" cy="6400800"/>
            </a:xfrm>
            <a:prstGeom prst="rect">
              <a:avLst/>
            </a:prstGeom>
            <a:noFill/>
            <a:ln w="25400">
              <a:solidFill>
                <a:srgbClr val="00674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43038D2-6694-4FF1-AFD6-35D55E87C41A}"/>
                </a:ext>
              </a:extLst>
            </p:cNvPr>
            <p:cNvSpPr/>
            <p:nvPr/>
          </p:nvSpPr>
          <p:spPr>
            <a:xfrm>
              <a:off x="11983584" y="23526954"/>
              <a:ext cx="19563213" cy="36379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4800" b="1" dirty="0">
                  <a:latin typeface="Arial" panose="020B0604020202020204" pitchFamily="34" charset="0"/>
                  <a:cs typeface="Arial" panose="020B0604020202020204" pitchFamily="34" charset="0"/>
                </a:rPr>
                <a:t>Discussion</a:t>
              </a:r>
            </a:p>
            <a:p>
              <a:pPr marL="457200" indent="-4572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“If this result actually generalized and I didn’t have to humbly disclaim the possibility of a thousand confounds and limitations, it would imply that….”</a:t>
              </a:r>
              <a:endParaRPr lang="en-US" sz="4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98AF760-C359-4592-BF1F-0C7A94DA9F89}"/>
              </a:ext>
            </a:extLst>
          </p:cNvPr>
          <p:cNvSpPr txBox="1"/>
          <p:nvPr/>
        </p:nvSpPr>
        <p:spPr>
          <a:xfrm>
            <a:off x="17296852" y="7063445"/>
            <a:ext cx="9424035" cy="6215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How did you find this?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Collected [what] from [population]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How you tested it.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Illustrate your methods if you can!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8812B75-2F39-4F27-84D4-C23E776A09BA}"/>
              </a:ext>
            </a:extLst>
          </p:cNvPr>
          <p:cNvSpPr/>
          <p:nvPr/>
        </p:nvSpPr>
        <p:spPr>
          <a:xfrm>
            <a:off x="16916398" y="6858000"/>
            <a:ext cx="15087600" cy="9144000"/>
          </a:xfrm>
          <a:prstGeom prst="rect">
            <a:avLst/>
          </a:prstGeom>
          <a:noFill/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6870680" y="31625053"/>
            <a:ext cx="7132320" cy="7315200"/>
            <a:chOff x="22402798" y="31553284"/>
            <a:chExt cx="7132320" cy="731520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98AF760-C359-4592-BF1F-0C7A94DA9F89}"/>
                </a:ext>
              </a:extLst>
            </p:cNvPr>
            <p:cNvSpPr txBox="1"/>
            <p:nvPr/>
          </p:nvSpPr>
          <p:spPr>
            <a:xfrm>
              <a:off x="22768558" y="31758729"/>
              <a:ext cx="6766560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4800" b="1" dirty="0">
                  <a:latin typeface="Arial" panose="020B0604020202020204" pitchFamily="34" charset="0"/>
                  <a:cs typeface="Arial" panose="020B0604020202020204" pitchFamily="34" charset="0"/>
                </a:rPr>
                <a:t>Additional Information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Future Work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Acknowledgements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Literature Cited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Further Information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8812B75-2F39-4F27-84D4-C23E776A09BA}"/>
                </a:ext>
              </a:extLst>
            </p:cNvPr>
            <p:cNvSpPr/>
            <p:nvPr/>
          </p:nvSpPr>
          <p:spPr>
            <a:xfrm>
              <a:off x="22402798" y="31553284"/>
              <a:ext cx="7086600" cy="7315200"/>
            </a:xfrm>
            <a:prstGeom prst="rect">
              <a:avLst/>
            </a:prstGeom>
            <a:noFill/>
            <a:ln w="25400">
              <a:solidFill>
                <a:srgbClr val="00674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24871678" y="31625053"/>
            <a:ext cx="7132320" cy="7315200"/>
            <a:chOff x="22402798" y="31553284"/>
            <a:chExt cx="7132320" cy="7315200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98AF760-C359-4592-BF1F-0C7A94DA9F89}"/>
                </a:ext>
              </a:extLst>
            </p:cNvPr>
            <p:cNvSpPr txBox="1"/>
            <p:nvPr/>
          </p:nvSpPr>
          <p:spPr>
            <a:xfrm>
              <a:off x="22768558" y="31758729"/>
              <a:ext cx="6766560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4800" b="1" dirty="0">
                  <a:latin typeface="Arial" panose="020B0604020202020204" pitchFamily="34" charset="0"/>
                  <a:cs typeface="Arial" panose="020B0604020202020204" pitchFamily="34" charset="0"/>
                </a:rPr>
                <a:t>Additional Information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Future Work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Acknowledgements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Literature Cited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Further Information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8812B75-2F39-4F27-84D4-C23E776A09BA}"/>
                </a:ext>
              </a:extLst>
            </p:cNvPr>
            <p:cNvSpPr/>
            <p:nvPr/>
          </p:nvSpPr>
          <p:spPr>
            <a:xfrm>
              <a:off x="22402798" y="31553284"/>
              <a:ext cx="7086600" cy="7315200"/>
            </a:xfrm>
            <a:prstGeom prst="rect">
              <a:avLst/>
            </a:prstGeom>
            <a:noFill/>
            <a:ln w="25400">
              <a:solidFill>
                <a:srgbClr val="00674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5680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0">
              <a:schemeClr val="bg1"/>
            </a:gs>
            <a:gs pos="100000">
              <a:srgbClr val="EDEBD1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2A36EF1-1E1F-4D1A-8E1D-89135C385498}"/>
              </a:ext>
            </a:extLst>
          </p:cNvPr>
          <p:cNvSpPr txBox="1"/>
          <p:nvPr/>
        </p:nvSpPr>
        <p:spPr>
          <a:xfrm>
            <a:off x="2743200" y="1207509"/>
            <a:ext cx="2743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0067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en-US" sz="9600" dirty="0">
              <a:solidFill>
                <a:srgbClr val="00674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25375D-9D6D-479F-9390-2846100F79C4}"/>
              </a:ext>
            </a:extLst>
          </p:cNvPr>
          <p:cNvSpPr txBox="1"/>
          <p:nvPr/>
        </p:nvSpPr>
        <p:spPr>
          <a:xfrm>
            <a:off x="2743200" y="3234981"/>
            <a:ext cx="2743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Author(s)</a:t>
            </a:r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511F6A-78B0-4BD0-857B-2DEA5635AB5E}"/>
              </a:ext>
            </a:extLst>
          </p:cNvPr>
          <p:cNvSpPr txBox="1"/>
          <p:nvPr/>
        </p:nvSpPr>
        <p:spPr>
          <a:xfrm>
            <a:off x="2743200" y="4708455"/>
            <a:ext cx="2743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67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Affiliation – Department, College, University</a:t>
            </a:r>
            <a:endParaRPr lang="en-US" sz="4000" dirty="0">
              <a:solidFill>
                <a:srgbClr val="00674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Picture 30" descr="USouthFlorida-lightbg-2c-cmyk-h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5794" y="41363433"/>
            <a:ext cx="9446812" cy="1603307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57200" y="42380200"/>
            <a:ext cx="10515600" cy="91440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21945600" y="42380200"/>
            <a:ext cx="10515600" cy="91440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812B75-2F39-4F27-84D4-C23E776A09BA}"/>
              </a:ext>
            </a:extLst>
          </p:cNvPr>
          <p:cNvSpPr/>
          <p:nvPr/>
        </p:nvSpPr>
        <p:spPr>
          <a:xfrm>
            <a:off x="914402" y="6858000"/>
            <a:ext cx="15087600" cy="9601200"/>
          </a:xfrm>
          <a:prstGeom prst="rect">
            <a:avLst/>
          </a:prstGeom>
          <a:solidFill>
            <a:schemeClr val="bg1"/>
          </a:solidFill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8AF760-C359-4592-BF1F-0C7A94DA9F89}"/>
              </a:ext>
            </a:extLst>
          </p:cNvPr>
          <p:cNvSpPr txBox="1"/>
          <p:nvPr/>
        </p:nvSpPr>
        <p:spPr>
          <a:xfrm>
            <a:off x="1304224" y="7109297"/>
            <a:ext cx="8869680" cy="541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Explain why your study matters </a:t>
            </a:r>
          </a:p>
          <a:p>
            <a:pPr>
              <a:lnSpc>
                <a:spcPct val="120000"/>
              </a:lnSpc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	(feel free to add graphics)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Give context for the gap you’re filling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914400" y="17377653"/>
            <a:ext cx="31089600" cy="14173200"/>
            <a:chOff x="34337624" y="7385259"/>
            <a:chExt cx="31089600" cy="18771616"/>
          </a:xfrm>
          <a:solidFill>
            <a:schemeClr val="bg1"/>
          </a:solidFill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4F72644-669E-4B84-8000-30F50C4CECA4}"/>
                </a:ext>
              </a:extLst>
            </p:cNvPr>
            <p:cNvSpPr/>
            <p:nvPr/>
          </p:nvSpPr>
          <p:spPr>
            <a:xfrm>
              <a:off x="34337624" y="7385259"/>
              <a:ext cx="31089600" cy="18771616"/>
            </a:xfrm>
            <a:prstGeom prst="rect">
              <a:avLst/>
            </a:prstGeom>
            <a:grpFill/>
            <a:ln w="25400">
              <a:solidFill>
                <a:srgbClr val="00674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43038D2-6694-4FF1-AFD6-35D55E87C41A}"/>
                </a:ext>
              </a:extLst>
            </p:cNvPr>
            <p:cNvSpPr/>
            <p:nvPr/>
          </p:nvSpPr>
          <p:spPr>
            <a:xfrm>
              <a:off x="34744158" y="7604538"/>
              <a:ext cx="18535717" cy="3637919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4800" b="1" dirty="0">
                  <a:latin typeface="Arial" panose="020B0604020202020204" pitchFamily="34" charset="0"/>
                  <a:cs typeface="Arial" panose="020B0604020202020204" pitchFamily="34" charset="0"/>
                </a:rPr>
                <a:t>Results</a:t>
              </a:r>
            </a:p>
            <a:p>
              <a:pPr marL="571500" indent="-5715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Graph/table with </a:t>
              </a:r>
              <a:r>
                <a:rPr lang="en-US" sz="4800" b="1" dirty="0">
                  <a:latin typeface="Arial" panose="020B0604020202020204" pitchFamily="34" charset="0"/>
                  <a:cs typeface="Arial" panose="020B0604020202020204" pitchFamily="34" charset="0"/>
                </a:rPr>
                <a:t>essential results only</a:t>
              </a: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marL="571500" indent="-5715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All the other correlations can be placed on the other side of the poster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914402" y="32493733"/>
            <a:ext cx="15087600" cy="7772400"/>
            <a:chOff x="11617825" y="23307675"/>
            <a:chExt cx="20386173" cy="640080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0A919B3-66A0-4766-88A7-F322ADCE46D8}"/>
                </a:ext>
              </a:extLst>
            </p:cNvPr>
            <p:cNvSpPr/>
            <p:nvPr/>
          </p:nvSpPr>
          <p:spPr>
            <a:xfrm>
              <a:off x="11617825" y="23307675"/>
              <a:ext cx="20386173" cy="6400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674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43038D2-6694-4FF1-AFD6-35D55E87C41A}"/>
                </a:ext>
              </a:extLst>
            </p:cNvPr>
            <p:cNvSpPr/>
            <p:nvPr/>
          </p:nvSpPr>
          <p:spPr>
            <a:xfrm>
              <a:off x="11983584" y="23526954"/>
              <a:ext cx="19563213" cy="36379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4800" b="1" dirty="0">
                  <a:latin typeface="Arial" panose="020B0604020202020204" pitchFamily="34" charset="0"/>
                  <a:cs typeface="Arial" panose="020B0604020202020204" pitchFamily="34" charset="0"/>
                </a:rPr>
                <a:t>Discussion</a:t>
              </a:r>
            </a:p>
            <a:p>
              <a:pPr marL="457200" indent="-4572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“If this result actually generalized and I didn’t have to humbly disclaim the possibility of a thousand confounds and limitations, it would imply that….”</a:t>
              </a:r>
              <a:endParaRPr lang="en-US" sz="4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B8812B75-2F39-4F27-84D4-C23E776A09BA}"/>
              </a:ext>
            </a:extLst>
          </p:cNvPr>
          <p:cNvSpPr/>
          <p:nvPr/>
        </p:nvSpPr>
        <p:spPr>
          <a:xfrm>
            <a:off x="16916398" y="6858000"/>
            <a:ext cx="15087600" cy="9601200"/>
          </a:xfrm>
          <a:prstGeom prst="rect">
            <a:avLst/>
          </a:prstGeom>
          <a:solidFill>
            <a:schemeClr val="bg1"/>
          </a:solidFill>
          <a:ln w="25400">
            <a:solidFill>
              <a:srgbClr val="006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8AF760-C359-4592-BF1F-0C7A94DA9F89}"/>
              </a:ext>
            </a:extLst>
          </p:cNvPr>
          <p:cNvSpPr txBox="1"/>
          <p:nvPr/>
        </p:nvSpPr>
        <p:spPr>
          <a:xfrm>
            <a:off x="17296852" y="7063445"/>
            <a:ext cx="9424035" cy="6215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How did you find this?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Collected [what] from [population]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How you tested it.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Illustrate your methods if you can!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16870680" y="32493733"/>
            <a:ext cx="7132320" cy="7772400"/>
            <a:chOff x="22402798" y="31553284"/>
            <a:chExt cx="7132320" cy="7315200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8812B75-2F39-4F27-84D4-C23E776A09BA}"/>
                </a:ext>
              </a:extLst>
            </p:cNvPr>
            <p:cNvSpPr/>
            <p:nvPr/>
          </p:nvSpPr>
          <p:spPr>
            <a:xfrm>
              <a:off x="22402798" y="31553284"/>
              <a:ext cx="7086600" cy="73152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674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98AF760-C359-4592-BF1F-0C7A94DA9F89}"/>
                </a:ext>
              </a:extLst>
            </p:cNvPr>
            <p:cNvSpPr txBox="1"/>
            <p:nvPr/>
          </p:nvSpPr>
          <p:spPr>
            <a:xfrm>
              <a:off x="22768558" y="31758729"/>
              <a:ext cx="6766560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4800" b="1" dirty="0">
                  <a:latin typeface="Arial" panose="020B0604020202020204" pitchFamily="34" charset="0"/>
                  <a:cs typeface="Arial" panose="020B0604020202020204" pitchFamily="34" charset="0"/>
                </a:rPr>
                <a:t>Additional Information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Future Work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Acknowledgements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Literature Cited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Further Information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24871678" y="32493733"/>
            <a:ext cx="7132320" cy="7772400"/>
            <a:chOff x="22402798" y="31553284"/>
            <a:chExt cx="7132320" cy="731520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8812B75-2F39-4F27-84D4-C23E776A09BA}"/>
                </a:ext>
              </a:extLst>
            </p:cNvPr>
            <p:cNvSpPr/>
            <p:nvPr/>
          </p:nvSpPr>
          <p:spPr>
            <a:xfrm>
              <a:off x="22402798" y="31553284"/>
              <a:ext cx="7086600" cy="73152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674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98AF760-C359-4592-BF1F-0C7A94DA9F89}"/>
                </a:ext>
              </a:extLst>
            </p:cNvPr>
            <p:cNvSpPr txBox="1"/>
            <p:nvPr/>
          </p:nvSpPr>
          <p:spPr>
            <a:xfrm>
              <a:off x="22768558" y="31758729"/>
              <a:ext cx="6766560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4800" b="1" dirty="0">
                  <a:latin typeface="Arial" panose="020B0604020202020204" pitchFamily="34" charset="0"/>
                  <a:cs typeface="Arial" panose="020B0604020202020204" pitchFamily="34" charset="0"/>
                </a:rPr>
                <a:t>Additional Information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Future Work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Acknowledgements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Literature Cited</a:t>
              </a:r>
            </a:p>
            <a:p>
              <a:pPr marL="742950" indent="-7429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4800" dirty="0">
                  <a:latin typeface="Arial" panose="020B0604020202020204" pitchFamily="34" charset="0"/>
                  <a:cs typeface="Arial" panose="020B0604020202020204" pitchFamily="34" charset="0"/>
                </a:rPr>
                <a:t>Further Information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906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0386EC-D1AC-48D0-B2EC-0AD1DA88A8AB}"/>
              </a:ext>
            </a:extLst>
          </p:cNvPr>
          <p:cNvSpPr/>
          <p:nvPr/>
        </p:nvSpPr>
        <p:spPr>
          <a:xfrm>
            <a:off x="0" y="0"/>
            <a:ext cx="32918400" cy="9915836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074D9C-0647-4697-8C43-9C38EB7E0278}"/>
              </a:ext>
            </a:extLst>
          </p:cNvPr>
          <p:cNvSpPr/>
          <p:nvPr/>
        </p:nvSpPr>
        <p:spPr>
          <a:xfrm>
            <a:off x="0" y="39319200"/>
            <a:ext cx="32918400" cy="4572000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F352244-5B1B-48A4-BB73-9F770DBFB737}"/>
              </a:ext>
            </a:extLst>
          </p:cNvPr>
          <p:cNvCxnSpPr>
            <a:cxnSpLocks/>
          </p:cNvCxnSpPr>
          <p:nvPr/>
        </p:nvCxnSpPr>
        <p:spPr>
          <a:xfrm>
            <a:off x="23395012" y="9915836"/>
            <a:ext cx="0" cy="29729638"/>
          </a:xfrm>
          <a:prstGeom prst="line">
            <a:avLst/>
          </a:prstGeom>
          <a:ln w="76200">
            <a:solidFill>
              <a:srgbClr val="0067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98AF760-C359-4592-BF1F-0C7A94DA9F89}"/>
              </a:ext>
            </a:extLst>
          </p:cNvPr>
          <p:cNvSpPr txBox="1"/>
          <p:nvPr/>
        </p:nvSpPr>
        <p:spPr>
          <a:xfrm>
            <a:off x="1414444" y="17731970"/>
            <a:ext cx="7905059" cy="15161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Explain why your study matters </a:t>
            </a:r>
          </a:p>
          <a:p>
            <a:pPr>
              <a:lnSpc>
                <a:spcPct val="120000"/>
              </a:lnSpc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	(feel free to add graphics)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Give context for the gap you’re filling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How did you find this?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Collected [what] from [population]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How you tested it.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Illustrate your methods if you can!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3038D2-6694-4FF1-AFD6-35D55E87C41A}"/>
              </a:ext>
            </a:extLst>
          </p:cNvPr>
          <p:cNvSpPr/>
          <p:nvPr/>
        </p:nvSpPr>
        <p:spPr>
          <a:xfrm>
            <a:off x="11635239" y="17731970"/>
            <a:ext cx="10686058" cy="1693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Graph/table with 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essential results only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All the other correlations can be placed on the other side of the poster</a:t>
            </a:r>
          </a:p>
          <a:p>
            <a:pPr>
              <a:lnSpc>
                <a:spcPct val="120000"/>
              </a:lnSpc>
            </a:pP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“If this result actually generalized and I didn’t have to humbly disclaim the possibility of a thousand confounds and limitations, it would imply that….”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4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Keep font size as high above 28 as possible</a:t>
            </a:r>
            <a:r>
              <a:rPr lang="en-US" sz="4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F09AAC-A47D-43E5-A106-FABBAC32BA3E}"/>
              </a:ext>
            </a:extLst>
          </p:cNvPr>
          <p:cNvSpPr txBox="1"/>
          <p:nvPr/>
        </p:nvSpPr>
        <p:spPr>
          <a:xfrm>
            <a:off x="1414444" y="11136898"/>
            <a:ext cx="2026975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latin typeface="Arial" panose="020B0604020202020204" pitchFamily="34" charset="0"/>
                <a:cs typeface="Arial" panose="020B0604020202020204" pitchFamily="34" charset="0"/>
              </a:rPr>
              <a:t>Title goes here; make it small if you need to free up space.</a:t>
            </a:r>
            <a:endParaRPr lang="en-US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045767-D451-47EC-8C33-AF2C20FBB84D}"/>
              </a:ext>
            </a:extLst>
          </p:cNvPr>
          <p:cNvSpPr txBox="1"/>
          <p:nvPr/>
        </p:nvSpPr>
        <p:spPr>
          <a:xfrm>
            <a:off x="23871475" y="11334332"/>
            <a:ext cx="8247396" cy="1200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Additional Information</a:t>
            </a:r>
          </a:p>
          <a:p>
            <a:endParaRPr lang="en-US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Delete this and replace it with your…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Extra Graphs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Extra Correlation tables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Extra Figures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Extra nuance that you’re worried about leaving out.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Literature Cited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Acknowledgements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AD9AF1-DB1F-458B-8FD1-3E2EA4A57D8C}"/>
              </a:ext>
            </a:extLst>
          </p:cNvPr>
          <p:cNvSpPr txBox="1"/>
          <p:nvPr/>
        </p:nvSpPr>
        <p:spPr>
          <a:xfrm>
            <a:off x="1380084" y="14134171"/>
            <a:ext cx="152142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Author Names, include University and Department if needed</a:t>
            </a:r>
            <a:endParaRPr 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9EE2F9-E368-471F-966F-6846CB3D7866}"/>
              </a:ext>
            </a:extLst>
          </p:cNvPr>
          <p:cNvSpPr/>
          <p:nvPr/>
        </p:nvSpPr>
        <p:spPr>
          <a:xfrm>
            <a:off x="2100244" y="1418496"/>
            <a:ext cx="28717912" cy="7623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3000" b="1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Main finding goes here</a:t>
            </a:r>
            <a:r>
              <a:rPr lang="en-US" sz="1300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, translated into plain English. Emphasize the important words.</a:t>
            </a:r>
            <a:endParaRPr lang="en-US" sz="1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8072" y="40169286"/>
            <a:ext cx="2795876" cy="27958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20F169A-FAC1-8543-A464-19DD5F3165D7}"/>
              </a:ext>
            </a:extLst>
          </p:cNvPr>
          <p:cNvSpPr txBox="1"/>
          <p:nvPr/>
        </p:nvSpPr>
        <p:spPr>
          <a:xfrm>
            <a:off x="21791496" y="40943481"/>
            <a:ext cx="80773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 a picture to </a:t>
            </a:r>
            <a:b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download the</a:t>
            </a:r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paper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BA158F0-099E-134E-902F-AD872555EFB2}"/>
              </a:ext>
            </a:extLst>
          </p:cNvPr>
          <p:cNvCxnSpPr>
            <a:cxnSpLocks/>
          </p:cNvCxnSpPr>
          <p:nvPr/>
        </p:nvCxnSpPr>
        <p:spPr>
          <a:xfrm>
            <a:off x="27035053" y="41605200"/>
            <a:ext cx="1920240" cy="0"/>
          </a:xfrm>
          <a:prstGeom prst="straightConnector1">
            <a:avLst/>
          </a:prstGeom>
          <a:ln w="66675">
            <a:solidFill>
              <a:srgbClr val="D1C7A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 descr="USouthFlorida-darkbg-1c-white-h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545" y="40805100"/>
            <a:ext cx="9429749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58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473</TotalTime>
  <Words>2255</Words>
  <Application>Microsoft Office PowerPoint</Application>
  <PresentationFormat>Custom</PresentationFormat>
  <Paragraphs>291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South Florida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Kilpatrick, Kiri</dc:creator>
  <cp:lastModifiedBy>Gianna Taravella</cp:lastModifiedBy>
  <cp:revision>19</cp:revision>
  <dcterms:created xsi:type="dcterms:W3CDTF">2020-03-04T16:56:44Z</dcterms:created>
  <dcterms:modified xsi:type="dcterms:W3CDTF">2023-10-04T21:05:34Z</dcterms:modified>
</cp:coreProperties>
</file>